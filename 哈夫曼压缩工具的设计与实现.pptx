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8" y="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你的姓名]。今天我将向大家汇报我的毕业设计项目——“哈夫曼压缩工具的设计与实现”。这个工具是一个基于规范哈夫曼编码的、支持多文件归档的命令行压缩工具。接下来，我将从项目背景、系统架构、核心算法实现等几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项目的背景和目标。无损数据压缩技术在当今数据爆炸的时代至关重要。哈夫曼编码作为一种经典算法，是实现高效压缩的基石。因此，我的项目目标是设计并实现一个功能完备的压缩工具。具体来说，它需要支持单文件、多文件和文件夹的压缩解压，提供灵活的命令行接口，并保证跨平台兼容性，特别是解决Windows下的中文路径问题。同时，工具还会输出详细的压缩统计信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设计了如图所示的整体架构。整个项目封装在HuffmanLib命名空间下，主要分为三大模块：哈夫曼核心模块，负责算法本身；文件处理模块，负责与文件系统交互；以及命令行交互模块，负责解析用户输入并提供反馈。项目的文件结构清晰，huffman.h声明接口，huffman.cpp实现核心逻辑，main.cpp作为程序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核心的哈夫曼编码流程。整个过程分为四步：首先，统计文件中每个字节的出现频率；然后，利用最小堆构建哈夫曼树；接着，也是本项目的关键，生成规范哈夫曼码。规范码的优势在于，我们只需要存储码长信息，而不是整个树，大大节省了空间。最后，将码长信息序列化到文件头，以便解码时重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代码实现层面，编码和解码的核心由这几个函数支撑。`GenerateCanonicalCodes`负责生成编码，`BuildCanonicalTree`负责根据码长表重建解码树。`WriteCodeTable`和`ReadCodeTable`则处理码表的读写。这里的关键设计在于，解码时我们不需要完整的树，只需要根据码长表重建一个规范树即可，这大大优化了性能和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单文件的压缩和解压，`CompressFile`和`DecompressFile`函数实现了完整的流程。压缩时需要两次读取文件，第一次统计频率，第二次进行编码。解压则是读取码表重建树，然后按位遍历解码。这里的一个技术难点是按位读写，我通过实现一个位缓冲来解决这个问题，确保了数据处理的精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文件归档压缩是本工具的一个重要功能。核心函数`CompressFiles`采用了一种“先占位，后回填”的策略。它先写一个占位的文件头，然后逐个压缩文件，记录下每个文件数据块的位置和大小，最后再回到文件开头，将准确的信息写入文件头。特别值得一提的是，我利用C++17的文件系统库，通过UTF-8编码来处理文件路径，完美解决了Windows下的中文路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归档压缩相对应的是归档解压函数`DecompressArchive`。它读取文件头，然后根据每个文件条目的信息，定位数据块并进行解码输出，同时会自动创建必要的目录。此外，项目还包含一些辅助函数，如`CollectFilesRecursive`用于递归收集文件，`GetArchiveInfo`用于快速查看归档信息，以及`DestroyTree`用于内存管理，确保程序的健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为了方便用户使用，我设计了简洁而强大的命令行接口。程序使用宽字符入口wmain，直接支持Unicode路径。通过不同的参数，如-11, -12, -13等，用户可以轻松选择单文件、多文件或文件夹的压缩模式。同时，程序还具备智能输出命名功能，能自动为多文件归档生成合适的文件名，提升了用户体验。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配符功能是提升工具易用性的关键。我没有依赖系统Shell来展开通配符，而是自己实现了`ExpandWildcard`和`WildcardMatch`函数。其原理是分离路径和模式，遍历目录并逐个匹配文件名。这样做的好处是，无论用户在哪个终端环境下使用，都能获得一致且可靠的通配符支持，大大增强了工具的实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为了验证工具的性能，我进行了一系列测试。在Windows 10环境下，对总计约88MB的文本文件进行压缩，最终得到的压缩因子为1.698倍，空间节省率达到了41.09%，耗时约4秒。更重要的是，通过哈希校验，确认了解压后的文件与原文件完全一致，保证了数据的完整性。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1C54-326A-D2A2-3BBD-505D3C6A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9A61E3-701E-B5BC-9C06-4188CEB599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528A4-11BB-49AD-6411-1CE2381AB82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EB3411-FB44-FAF8-72F4-11DEE2BC0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E00766-0830-CE54-42D3-EC576816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配符功能是提升工具易用性的关键。我没有依赖系统Shell来展开通配符，而是自己实现了`ExpandWildcard`和`WildcardMatch`函数。其原理是分离路径和模式，遍历目录并逐个匹配文件名。这样做的好处是，无论用户在哪个终端环境下使用，都能获得一致且可靠的通配符支持，大大增强了工具的实用性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EC442-D2EC-43C7-B468-200995EF15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27D31-771E-89BF-CB3A-BAA45925F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35826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444AF-FEE1-97EC-DF32-67081562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202F7E-868C-8C10-A17C-3A77E63F91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A51719-7B98-067A-A822-27AA5DAEF72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41CA8E0-D0EA-5F34-2DDD-FC0DB7962C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5745FB0-29B4-4A7F-C218-E7F8E9827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配符功能是提升工具易用性的关键。我没有依赖系统Shell来展开通配符，而是自己实现了`ExpandWildcard`和`WildcardMatch`函数。其原理是分离路径和模式，遍历目录并逐个匹配文件名。这样做的好处是，无论用户在哪个终端环境下使用，都能获得一致且可靠的通配符支持，大大增强了工具的实用性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EEF65-C1E9-F3CF-77B5-FD0AE85D4C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26AF7-CF7B-B7DE-0A3E-0EDDD6134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32225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20000"/>
                </a:srgbClr>
              </a:gs>
              <a:gs pos="50000">
                <a:srgbClr val="000000">
                  <a:alpha val="75000"/>
                </a:srgbClr>
              </a:gs>
              <a:gs pos="100000">
                <a:srgbClr val="000000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0" y="1905000"/>
            <a:ext cx="571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哈夫曼压缩工具的</a:t>
            </a:r>
            <a:br>
              <a:rPr 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设计与实现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096000" y="3683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EBF5F5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基于规范哈夫曼编码的多文件归档压缩命令行工具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5104547"/>
            <a:ext cx="5461000" cy="889000"/>
          </a:xfrm>
          <a:prstGeom prst="roundRect">
            <a:avLst>
              <a:gd name="adj" fmla="val 0"/>
            </a:avLst>
          </a:prstGeom>
          <a:solidFill>
            <a:srgbClr val="0A1923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286500" y="5181600"/>
            <a:ext cx="508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：[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肖东宸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  日期：2026年6月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7506" y="3810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r>
              <a:rPr lang="zh-CN" altLang="en-US" sz="32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与原理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D3748">
              <a:alpha val="8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F0F5FF"/>
                </a:solidFill>
                <a:latin typeface="Noto Sans SC"/>
                <a:ea typeface="Noto Sans SC"/>
                <a:cs typeface="Noto Sans SC"/>
                <a:sym typeface="Noto Sans SC"/>
              </a:rPr>
              <a:t>无损数据压缩是现代数据处理的核心环节，能在保留信息完整性的同时大幅降低存储与传输成本。哈夫曼编码作为熵编码的经典算法，以其高效性成为 ZIP、GZIP 等主流格式的技术基石。本项目以此为核心，旨在开发一款面向实际应用场景、体验优异的文件压缩工具，解决传统方案在特定环境下的适配与易用性痛点。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371600" y="3302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914400" y="3810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064000" y="3302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756400" y="3302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299200" y="3810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9448800" y="33020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8991600" y="3810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1016000" y="52705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0F823F3-584D-9D88-1FB7-603373A2226E}"/>
              </a:ext>
            </a:extLst>
          </p:cNvPr>
          <p:cNvSpPr txBox="1"/>
          <p:nvPr/>
        </p:nvSpPr>
        <p:spPr>
          <a:xfrm>
            <a:off x="5658491" y="3522962"/>
            <a:ext cx="6130777" cy="24622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哈夫曼压缩（</a:t>
            </a:r>
            <a:r>
              <a:rPr lang="en-US" altLang="zh-CN" dirty="0"/>
              <a:t>Huffman Compression</a:t>
            </a:r>
            <a:r>
              <a:rPr lang="zh-CN" altLang="en-US" dirty="0"/>
              <a:t>）是一种无损数据压缩算法，核心思想是根据数据中不同符号出现的频率，赋予不同长度的二进制编码</a:t>
            </a:r>
            <a:r>
              <a:rPr lang="en-US" altLang="zh-CN" dirty="0"/>
              <a:t>——</a:t>
            </a:r>
            <a:r>
              <a:rPr lang="zh-CN" altLang="en-US" dirty="0"/>
              <a:t>出现频率越高的符号，编码越短；频率越低的符号，编码越长，从而减少整体数据量。</a:t>
            </a:r>
          </a:p>
          <a:p>
            <a:endParaRPr lang="zh-CN" alt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基本原理</a:t>
            </a:r>
          </a:p>
          <a:p>
            <a:r>
              <a:rPr lang="zh-CN" altLang="en-US" dirty="0"/>
              <a:t>变长编码：与固定长度编码（如 </a:t>
            </a:r>
            <a:r>
              <a:rPr lang="en-US" altLang="zh-CN" dirty="0"/>
              <a:t>ASCII </a:t>
            </a:r>
            <a:r>
              <a:rPr lang="zh-CN" altLang="en-US" dirty="0"/>
              <a:t>每字符 </a:t>
            </a:r>
            <a:r>
              <a:rPr lang="en-US" altLang="zh-CN" dirty="0"/>
              <a:t>8 </a:t>
            </a:r>
            <a:r>
              <a:rPr lang="zh-CN" altLang="en-US" dirty="0"/>
              <a:t>位）不同，哈夫曼编码使用不等长码字。高频符号用短码，低频符号用长码，使得平均码长最短。</a:t>
            </a:r>
          </a:p>
          <a:p>
            <a:endParaRPr lang="zh-CN" altLang="en-US" dirty="0"/>
          </a:p>
          <a:p>
            <a:r>
              <a:rPr lang="zh-CN" altLang="en-US" dirty="0"/>
              <a:t>前缀码：任何一个符号的编码都不是另一个符号编码的前缀，保证解码时能唯一分割比特流，无需分隔符。</a:t>
            </a:r>
          </a:p>
        </p:txBody>
      </p:sp>
      <p:pic>
        <p:nvPicPr>
          <p:cNvPr id="1026" name="Picture 2" descr="哈夫曼编码及其应用——数据压缩（Huffman compression） - 知乎">
            <a:extLst>
              <a:ext uri="{FF2B5EF4-FFF2-40B4-BE49-F238E27FC236}">
                <a16:creationId xmlns:a16="http://schemas.microsoft.com/office/drawing/2014/main" id="{6B067509-1589-128D-5FAC-EFF882AE0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3230077"/>
            <a:ext cx="3956690" cy="304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05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哈夫曼核心模块</a:t>
            </a: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 (Huffman Core)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312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2D374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算法实现的核心引擎，封装了压缩和解压的底层逻辑，是整个库的技术基石</a:t>
            </a:r>
            <a:r>
              <a:rPr lang="en-US" sz="1200" b="0" i="0" u="none" strike="noStrike" dirty="0">
                <a:solidFill>
                  <a:srgbClr val="2D374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3124200" cy="889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149600"/>
            <a:ext cx="2870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包含字符频率统计、哈夫曼树构建、规范码生成、以及码表的序列化与反序列化操作</a:t>
            </a:r>
            <a:r>
              <a:rPr lang="en-US" sz="1200" b="0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470400" y="1651000"/>
            <a:ext cx="3505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704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609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文件处理模块</a:t>
            </a: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 (File Handling)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660900" y="2349500"/>
            <a:ext cx="312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2D374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连接核心算法与物理存储的桥梁，负责数据的持久化与IO流的高效管理</a:t>
            </a:r>
            <a:r>
              <a:rPr lang="en-US" sz="1200" b="0" i="0" u="none" strike="noStrike" dirty="0">
                <a:solidFill>
                  <a:srgbClr val="2D374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660900" y="3111500"/>
            <a:ext cx="3124200" cy="889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787900" y="3149600"/>
            <a:ext cx="2870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支持单文件快速压缩</a:t>
            </a:r>
            <a:r>
              <a:rPr lang="en-US" sz="1200" b="0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解压、多文件归档操作，以及对指定目录的递归文件收集与处理</a:t>
            </a:r>
            <a:r>
              <a:rPr lang="en-US" sz="1200" b="0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178800" y="1651000"/>
            <a:ext cx="3505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788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693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命令行交互模块</a:t>
            </a: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 (CLI)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8369300" y="2349500"/>
            <a:ext cx="312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2D374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面向终端用户的操作界面，提供直观的参数控制与实时的执行反馈</a:t>
            </a:r>
            <a:r>
              <a:rPr lang="en-US" sz="1200" b="0" i="0" u="none" strike="noStrike" dirty="0">
                <a:solidFill>
                  <a:srgbClr val="2D3748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8369300" y="3111500"/>
            <a:ext cx="3124200" cy="889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496300" y="3149600"/>
            <a:ext cx="2870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解析用户输入参数，处理通配符展开，动态显示任务进度，并输出最终的压缩效率统计</a:t>
            </a:r>
            <a:r>
              <a:rPr lang="en-US" sz="1200" b="0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10922000" cy="2032000"/>
          </a:xfrm>
          <a:prstGeom prst="roundRect">
            <a:avLst>
              <a:gd name="adj" fmla="val 0"/>
            </a:avLst>
          </a:prstGeom>
          <a:solidFill>
            <a:srgbClr val="2D374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45085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79500" y="4597400"/>
            <a:ext cx="312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huffman.h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1079500" y="50800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E2E8F0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对外暴露的核心接口头文件。定义了哈夫曼树节点等关键数据结构，以及压缩、解压、树操作等核心函数的声明，作为库与上层逻辑的契约</a:t>
            </a:r>
            <a:r>
              <a:rPr lang="en-US" sz="1200" b="0" i="0" u="none" strike="noStrike" dirty="0">
                <a:solidFill>
                  <a:srgbClr val="E2E8F0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26" name="Connector 26"/>
          <p:cNvCxnSpPr/>
          <p:nvPr/>
        </p:nvCxnSpPr>
        <p:spPr>
          <a:xfrm rot="5367260">
            <a:off x="3778250" y="52959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572000" y="45085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699000" y="4597400"/>
            <a:ext cx="312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huffman.cpp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4699000" y="50800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E2E8F0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算法核心实现层。包含了从频率统计到哈夫曼树构建、从编码生成到二进制流读写的具体业务逻辑，是实现高效无损压缩的关键执行代码</a:t>
            </a:r>
            <a:r>
              <a:rPr lang="en-US" sz="1200" b="0" i="0" u="none" strike="noStrike" dirty="0">
                <a:solidFill>
                  <a:srgbClr val="E2E8F0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30" name="Connector 30"/>
          <p:cNvCxnSpPr/>
          <p:nvPr/>
        </p:nvCxnSpPr>
        <p:spPr>
          <a:xfrm rot="5367260">
            <a:off x="7397750" y="52959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8191500" y="4508500"/>
            <a:ext cx="33782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318500" y="4597400"/>
            <a:ext cx="312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main.cpp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8305800" y="50800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E2E8F0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程序的应用入口。负责解析命令行参数，调度文件处理模块与核心算法模块协同工作，处理异常情况并向用户输出格式化的执行结果</a:t>
            </a:r>
            <a:r>
              <a:rPr lang="en-US" sz="1200" b="0" i="0" u="none" strike="noStrike" dirty="0">
                <a:solidFill>
                  <a:srgbClr val="E2E8F0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 animBg="1"/>
      <p:bldP spid="4" grpId="1" animBg="1"/>
      <p:bldP spid="5" grpId="0" animBg="1"/>
      <p:bldP spid="5" grpId="1" animBg="1"/>
      <p:bldP spid="6" grpId="0"/>
      <p:bldP spid="6" grpId="1"/>
      <p:bldP spid="7" grpId="0"/>
      <p:bldP spid="7" grpId="1"/>
      <p:bldP spid="8" grpId="0" animBg="1"/>
      <p:bldP spid="8" grpId="1" animBg="1"/>
      <p:bldP spid="9" grpId="0"/>
      <p:bldP spid="9" grpId="1"/>
      <p:bldP spid="10" grpId="0" animBg="1"/>
      <p:bldP spid="10" grpId="1" animBg="1"/>
      <p:bldP spid="11" grpId="0" animBg="1"/>
      <p:bldP spid="11" grpId="1" animBg="1"/>
      <p:bldP spid="12" grpId="0"/>
      <p:bldP spid="12" grpId="1"/>
      <p:bldP spid="13" grpId="0"/>
      <p:bldP spid="13" grpId="1"/>
      <p:bldP spid="14" grpId="0" animBg="1"/>
      <p:bldP spid="14" grpId="1" animBg="1"/>
      <p:bldP spid="15" grpId="0"/>
      <p:bldP spid="15" grpId="1"/>
      <p:bldP spid="16" grpId="0" animBg="1"/>
      <p:bldP spid="16" grpId="1" animBg="1"/>
      <p:bldP spid="17" grpId="0" animBg="1"/>
      <p:bldP spid="17" grpId="1" animBg="1"/>
      <p:bldP spid="18" grpId="0"/>
      <p:bldP spid="18" grpId="1"/>
      <p:bldP spid="19" grpId="0"/>
      <p:bldP spid="19" grpId="1"/>
      <p:bldP spid="20" grpId="0" animBg="1"/>
      <p:bldP spid="20" grpId="1" animBg="1"/>
      <p:bldP spid="21" grpId="0"/>
      <p:bldP spid="21" grpId="1"/>
      <p:bldP spid="22" grpId="0" animBg="1"/>
      <p:bldP spid="22" grpId="1" animBg="1"/>
      <p:bldP spid="23" grpId="0" animBg="1"/>
      <p:bldP spid="23" grpId="1" animBg="1"/>
      <p:bldP spid="24" grpId="0"/>
      <p:bldP spid="24" grpId="1"/>
      <p:bldP spid="25" grpId="0"/>
      <p:bldP spid="25" grpId="1"/>
      <p:bldP spid="27" grpId="0" animBg="1"/>
      <p:bldP spid="27" grpId="1" animBg="1"/>
      <p:bldP spid="28" grpId="0"/>
      <p:bldP spid="28" grpId="1"/>
      <p:bldP spid="29" grpId="0"/>
      <p:bldP spid="29" grpId="1"/>
      <p:bldP spid="31" grpId="0" animBg="1"/>
      <p:bldP spid="31" grpId="1" animBg="1"/>
      <p:bldP spid="32" grpId="0"/>
      <p:bldP spid="32" grpId="1"/>
      <p:bldP spid="33" grpId="0" build="allAtOnce"/>
      <p:bldP spid="33" grpI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BE2B657-97EA-765C-E6FD-93A8BB364B5C}"/>
              </a:ext>
            </a:extLst>
          </p:cNvPr>
          <p:cNvSpPr txBox="1"/>
          <p:nvPr/>
        </p:nvSpPr>
        <p:spPr>
          <a:xfrm>
            <a:off x="145752" y="298026"/>
            <a:ext cx="6097022" cy="79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40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huffman.h</a:t>
            </a:r>
            <a:endParaRPr lang="en-US" altLang="zh-CN" sz="4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1FE5934-BF1E-2CE2-DA88-3B7DE7BA2605}"/>
              </a:ext>
            </a:extLst>
          </p:cNvPr>
          <p:cNvSpPr txBox="1"/>
          <p:nvPr/>
        </p:nvSpPr>
        <p:spPr>
          <a:xfrm>
            <a:off x="607554" y="1288752"/>
            <a:ext cx="10733461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huffman.h</a:t>
            </a:r>
            <a:r>
              <a:rPr lang="zh-CN" altLang="en-US" dirty="0"/>
              <a:t> 是哈夫曼压缩工具的头文件，它的核心作用是定义接口、数据结构和依赖关系，供 </a:t>
            </a:r>
            <a:r>
              <a:rPr lang="en-US" altLang="zh-CN" dirty="0"/>
              <a:t>huffman.cpp</a:t>
            </a:r>
            <a:r>
              <a:rPr lang="zh-CN" altLang="en-US" dirty="0"/>
              <a:t> 和 </a:t>
            </a:r>
            <a:r>
              <a:rPr lang="en-US" altLang="zh-CN" dirty="0"/>
              <a:t>main.cpp</a:t>
            </a:r>
            <a:r>
              <a:rPr lang="zh-CN" altLang="en-US" dirty="0"/>
              <a:t> 使用，保证代码的模块化和可维护性。具体包括：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05E889-D1E6-7F1E-F951-90493B074A7F}"/>
              </a:ext>
            </a:extLst>
          </p:cNvPr>
          <p:cNvSpPr txBox="1"/>
          <p:nvPr/>
        </p:nvSpPr>
        <p:spPr>
          <a:xfrm>
            <a:off x="607554" y="2325890"/>
            <a:ext cx="5130459" cy="397031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头文件保护</a:t>
            </a:r>
            <a:br>
              <a:rPr lang="zh-CN" altLang="en-US" dirty="0"/>
            </a:br>
            <a:r>
              <a:rPr lang="en-US" altLang="zh-CN" dirty="0"/>
              <a:t>#ifndef HUFFMAN_H … #define HUFFMAN_H … #endif </a:t>
            </a:r>
            <a:r>
              <a:rPr lang="zh-CN" altLang="en-US" dirty="0"/>
              <a:t>防止重复包含。</a:t>
            </a:r>
          </a:p>
          <a:p>
            <a:r>
              <a:rPr lang="en-US" altLang="zh-CN" b="1" dirty="0"/>
              <a:t>2.</a:t>
            </a:r>
            <a:r>
              <a:rPr lang="zh-CN" altLang="en-US" b="1" dirty="0"/>
              <a:t>依赖声明</a:t>
            </a:r>
            <a:br>
              <a:rPr lang="zh-CN" altLang="en-US" dirty="0"/>
            </a:br>
            <a:r>
              <a:rPr lang="zh-CN" altLang="en-US" dirty="0"/>
              <a:t>引入项目需要的标准库头文件（</a:t>
            </a:r>
            <a:r>
              <a:rPr lang="en-US" altLang="zh-CN" dirty="0"/>
              <a:t>&lt;string&gt;</a:t>
            </a:r>
            <a:r>
              <a:rPr lang="zh-CN" altLang="en-US" dirty="0"/>
              <a:t>、</a:t>
            </a:r>
            <a:r>
              <a:rPr lang="en-US" altLang="zh-CN" dirty="0"/>
              <a:t>&lt;vector&gt;</a:t>
            </a:r>
            <a:r>
              <a:rPr lang="zh-CN" altLang="en-US" dirty="0"/>
              <a:t>、</a:t>
            </a:r>
            <a:r>
              <a:rPr lang="en-US" altLang="zh-CN" dirty="0"/>
              <a:t>&lt;</a:t>
            </a:r>
            <a:r>
              <a:rPr lang="en-US" altLang="zh-CN" dirty="0" err="1"/>
              <a:t>cstdint</a:t>
            </a:r>
            <a:r>
              <a:rPr lang="en-US" altLang="zh-CN" dirty="0"/>
              <a:t>&gt;</a:t>
            </a:r>
            <a:r>
              <a:rPr lang="zh-CN" altLang="en-US" dirty="0"/>
              <a:t>、</a:t>
            </a:r>
            <a:r>
              <a:rPr lang="en-US" altLang="zh-CN" dirty="0"/>
              <a:t>&lt;functional&gt;</a:t>
            </a:r>
            <a:r>
              <a:rPr lang="zh-CN" altLang="en-US" dirty="0"/>
              <a:t>、</a:t>
            </a:r>
            <a:r>
              <a:rPr lang="en-US" altLang="zh-CN" dirty="0"/>
              <a:t>&lt;filesystem&gt; </a:t>
            </a:r>
            <a:r>
              <a:rPr lang="zh-CN" altLang="en-US" dirty="0"/>
              <a:t>等），让所有包含 </a:t>
            </a:r>
            <a:r>
              <a:rPr lang="en-US" altLang="zh-CN" dirty="0" err="1"/>
              <a:t>huffman.h</a:t>
            </a:r>
            <a:r>
              <a:rPr lang="en-US" altLang="zh-CN" dirty="0"/>
              <a:t> </a:t>
            </a:r>
            <a:r>
              <a:rPr lang="zh-CN" altLang="en-US" dirty="0"/>
              <a:t>的文件不必重复声明。</a:t>
            </a:r>
          </a:p>
          <a:p>
            <a:r>
              <a:rPr lang="en-US" altLang="zh-CN" b="1" dirty="0"/>
              <a:t>3.</a:t>
            </a:r>
            <a:r>
              <a:rPr lang="zh-CN" altLang="en-US" b="1" dirty="0"/>
              <a:t>命名空间封装</a:t>
            </a:r>
            <a:br>
              <a:rPr lang="zh-CN" altLang="en-US" dirty="0"/>
            </a:br>
            <a:r>
              <a:rPr lang="zh-CN" altLang="en-US" dirty="0"/>
              <a:t>所有声明放入 </a:t>
            </a:r>
            <a:r>
              <a:rPr lang="en-US" altLang="zh-CN" dirty="0"/>
              <a:t>namespace </a:t>
            </a:r>
            <a:r>
              <a:rPr lang="en-US" altLang="zh-CN" dirty="0" err="1"/>
              <a:t>HuffmanLib</a:t>
            </a:r>
            <a:r>
              <a:rPr lang="zh-CN" altLang="en-US" dirty="0"/>
              <a:t>，避免全局符号冲突。</a:t>
            </a:r>
          </a:p>
          <a:p>
            <a:r>
              <a:rPr lang="en-US" altLang="zh-CN" b="1" dirty="0"/>
              <a:t>4.</a:t>
            </a:r>
            <a:r>
              <a:rPr lang="zh-CN" altLang="en-US" b="1" dirty="0"/>
              <a:t>常量定义</a:t>
            </a:r>
            <a:br>
              <a:rPr lang="zh-CN" altLang="en-US" dirty="0"/>
            </a:br>
            <a:r>
              <a:rPr lang="en-US" altLang="zh-CN" dirty="0"/>
              <a:t>ARCHIVE_MAGIC</a:t>
            </a:r>
            <a:r>
              <a:rPr lang="zh-CN" altLang="en-US" dirty="0"/>
              <a:t>（</a:t>
            </a:r>
            <a:r>
              <a:rPr lang="en-US" altLang="zh-CN" dirty="0"/>
              <a:t>0x48434648</a:t>
            </a:r>
            <a:r>
              <a:rPr lang="zh-CN" altLang="en-US" dirty="0"/>
              <a:t>）作为归档文件的识别标识</a:t>
            </a:r>
          </a:p>
          <a:p>
            <a:r>
              <a:rPr lang="en-US" altLang="zh-CN" b="1" dirty="0"/>
              <a:t>5.</a:t>
            </a:r>
            <a:r>
              <a:rPr lang="zh-CN" altLang="en-US" b="1" dirty="0"/>
              <a:t>核心数据结构</a:t>
            </a:r>
            <a:endParaRPr lang="en-US" altLang="zh-CN" b="1" dirty="0"/>
          </a:p>
          <a:p>
            <a:r>
              <a:rPr lang="en-US" altLang="zh-CN" dirty="0" err="1"/>
              <a:t>CodeLengths</a:t>
            </a:r>
            <a:r>
              <a:rPr lang="zh-CN" altLang="en-US" dirty="0"/>
              <a:t>：存储每个符号（</a:t>
            </a:r>
            <a:r>
              <a:rPr lang="en-US" altLang="zh-CN" dirty="0"/>
              <a:t>0‑255</a:t>
            </a:r>
            <a:r>
              <a:rPr lang="zh-CN" altLang="en-US" dirty="0"/>
              <a:t>）的码长及有效性标记，是编码与解码间传递的关键信息。</a:t>
            </a:r>
            <a:endParaRPr lang="en-US" altLang="zh-CN" dirty="0"/>
          </a:p>
          <a:p>
            <a:r>
              <a:rPr lang="en-US" altLang="zh-CN" dirty="0" err="1"/>
              <a:t>DecodeNode</a:t>
            </a:r>
            <a:r>
              <a:rPr lang="zh-CN" altLang="en-US" dirty="0"/>
              <a:t>：解码二叉树的节点，包含左右子节点和符号值，析构时自动递归删除子树。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DB1B80F-725A-9DB9-B18B-54A374863162}"/>
              </a:ext>
            </a:extLst>
          </p:cNvPr>
          <p:cNvSpPr txBox="1"/>
          <p:nvPr/>
        </p:nvSpPr>
        <p:spPr>
          <a:xfrm>
            <a:off x="6210556" y="2325889"/>
            <a:ext cx="5130459" cy="397031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altLang="zh-CN" dirty="0" err="1"/>
              <a:t>FileEntry</a:t>
            </a:r>
            <a:r>
              <a:rPr lang="zh-CN" altLang="en-US" dirty="0"/>
              <a:t>：描述归档中一个文件的元信息（相对路径、原始大小、数据偏移、压缩大小）。</a:t>
            </a:r>
          </a:p>
          <a:p>
            <a:pPr lvl="1"/>
            <a:r>
              <a:rPr lang="en-US" altLang="zh-CN" dirty="0" err="1"/>
              <a:t>ArchiveInfo</a:t>
            </a:r>
            <a:r>
              <a:rPr lang="zh-CN" altLang="en-US" dirty="0"/>
              <a:t>：归档的摘要信息（文件数、总原始大小、总压缩大小）。</a:t>
            </a:r>
            <a:endParaRPr lang="en-US" altLang="zh-CN" dirty="0"/>
          </a:p>
          <a:p>
            <a:pPr lvl="1"/>
            <a:r>
              <a:rPr lang="en-US" altLang="zh-CN" dirty="0" err="1"/>
              <a:t>ProgressCallback</a:t>
            </a:r>
            <a:r>
              <a:rPr lang="zh-CN" altLang="en-US" dirty="0"/>
              <a:t>：进度回调的函数类型定义（</a:t>
            </a:r>
            <a:r>
              <a:rPr lang="en-US" altLang="zh-CN" dirty="0"/>
              <a:t>std::function&lt;void(double)&gt;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en-US" altLang="zh-CN" b="1" dirty="0"/>
              <a:t>6.</a:t>
            </a:r>
            <a:r>
              <a:rPr lang="zh-CN" altLang="en-US" b="1" dirty="0"/>
              <a:t>公共接口声明</a:t>
            </a:r>
            <a:endParaRPr lang="en-US" altLang="zh-CN" dirty="0"/>
          </a:p>
          <a:p>
            <a:r>
              <a:rPr lang="zh-CN" altLang="en-US" b="1" dirty="0"/>
              <a:t>        哈夫曼编码相关</a:t>
            </a:r>
            <a:r>
              <a:rPr lang="zh-CN" altLang="en-US" dirty="0"/>
              <a:t>：</a:t>
            </a:r>
            <a:r>
              <a:rPr lang="en-US" altLang="zh-CN" dirty="0" err="1"/>
              <a:t>GenerateCanonicalCodes</a:t>
            </a:r>
            <a:r>
              <a:rPr lang="zh-CN" altLang="en-US" dirty="0"/>
              <a:t>、</a:t>
            </a:r>
            <a:r>
              <a:rPr lang="en-US" altLang="zh-CN" dirty="0" err="1"/>
              <a:t>WriteCodeTable</a:t>
            </a:r>
            <a:r>
              <a:rPr lang="zh-CN" altLang="en-US" dirty="0"/>
              <a:t>、</a:t>
            </a:r>
            <a:r>
              <a:rPr lang="en-US" altLang="zh-CN" dirty="0" err="1"/>
              <a:t>ReadCodeTable</a:t>
            </a:r>
            <a:r>
              <a:rPr lang="zh-CN" altLang="en-US" dirty="0"/>
              <a:t>、</a:t>
            </a:r>
            <a:r>
              <a:rPr lang="en-US" altLang="zh-CN" dirty="0" err="1"/>
              <a:t>BuildCanonicalTree</a:t>
            </a:r>
            <a:r>
              <a:rPr lang="zh-CN" altLang="en-US" dirty="0"/>
              <a:t>、</a:t>
            </a:r>
            <a:r>
              <a:rPr lang="en-US" altLang="zh-CN" dirty="0" err="1"/>
              <a:t>DestroyTree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         单文件处理</a:t>
            </a:r>
            <a:r>
              <a:rPr lang="zh-CN" altLang="en-US" dirty="0"/>
              <a:t>：</a:t>
            </a:r>
            <a:r>
              <a:rPr lang="en-US" altLang="zh-CN" dirty="0" err="1"/>
              <a:t>CompressFile</a:t>
            </a:r>
            <a:r>
              <a:rPr lang="zh-CN" altLang="en-US" dirty="0"/>
              <a:t>、</a:t>
            </a:r>
            <a:r>
              <a:rPr lang="en-US" altLang="zh-CN" dirty="0" err="1"/>
              <a:t>DecompressFile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         多文件归档处理</a:t>
            </a:r>
            <a:r>
              <a:rPr lang="zh-CN" altLang="en-US" dirty="0"/>
              <a:t>：</a:t>
            </a:r>
            <a:r>
              <a:rPr lang="en-US" altLang="zh-CN" dirty="0" err="1"/>
              <a:t>CompressFiles</a:t>
            </a:r>
            <a:r>
              <a:rPr lang="zh-CN" altLang="en-US" dirty="0"/>
              <a:t>、</a:t>
            </a:r>
            <a:r>
              <a:rPr lang="en-US" altLang="zh-CN" dirty="0" err="1"/>
              <a:t>DecompressArchive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          辅助功能</a:t>
            </a:r>
            <a:r>
              <a:rPr lang="zh-CN" altLang="en-US" dirty="0"/>
              <a:t>：</a:t>
            </a:r>
            <a:r>
              <a:rPr lang="en-US" altLang="zh-CN" dirty="0" err="1"/>
              <a:t>CollectFilesRecursive</a:t>
            </a:r>
            <a:r>
              <a:rPr lang="zh-CN" altLang="en-US" dirty="0"/>
              <a:t>（递归收集文件）、</a:t>
            </a:r>
            <a:r>
              <a:rPr lang="en-US" altLang="zh-CN" dirty="0" err="1"/>
              <a:t>GetArchiveInfo</a:t>
            </a:r>
            <a:r>
              <a:rPr lang="zh-CN" altLang="en-US" dirty="0"/>
              <a:t>（读取归档信息）。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F1529137-77D6-BC4C-F5D2-72172A8B1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224" y="1913861"/>
            <a:ext cx="4806119" cy="48436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3" grpId="0" animBg="1"/>
      <p:bldP spid="33" grpId="1" animBg="1"/>
      <p:bldP spid="34" grpId="0" animBg="1"/>
      <p:bldP spid="34" grpId="2" animBg="1"/>
      <p:bldP spid="34" grpId="3" animBg="1"/>
      <p:bldP spid="35" grpId="0" animBg="1"/>
      <p:bldP spid="35" grpId="1" animBg="1"/>
      <p:bldP spid="35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2">
            <a:extLst>
              <a:ext uri="{FF2B5EF4-FFF2-40B4-BE49-F238E27FC236}">
                <a16:creationId xmlns:a16="http://schemas.microsoft.com/office/drawing/2014/main" id="{3DB25674-29BC-20CD-9887-E4F20754FB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A9FA5A-0490-8928-E793-5F35BCABC683}"/>
              </a:ext>
            </a:extLst>
          </p:cNvPr>
          <p:cNvSpPr txBox="1"/>
          <p:nvPr/>
        </p:nvSpPr>
        <p:spPr>
          <a:xfrm>
            <a:off x="191386" y="100979"/>
            <a:ext cx="6096000" cy="79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40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huffman.cpp</a:t>
            </a:r>
            <a:endParaRPr lang="en-US" altLang="zh-CN" sz="4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B9DAFC-64BF-9FDC-2A63-3BBB6BCE85AD}"/>
              </a:ext>
            </a:extLst>
          </p:cNvPr>
          <p:cNvSpPr txBox="1"/>
          <p:nvPr/>
        </p:nvSpPr>
        <p:spPr>
          <a:xfrm>
            <a:off x="202018" y="1551563"/>
            <a:ext cx="1178796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压缩步骤（编码端）</a:t>
            </a:r>
          </a:p>
          <a:p>
            <a:r>
              <a:rPr lang="zh-CN" altLang="en-US" b="1" dirty="0"/>
              <a:t>       频率统计</a:t>
            </a:r>
            <a:br>
              <a:rPr lang="zh-CN" altLang="en-US" dirty="0"/>
            </a:br>
            <a:r>
              <a:rPr lang="zh-CN" altLang="en-US" dirty="0"/>
              <a:t>读取原始数据（字节为单位，共有 </a:t>
            </a:r>
            <a:r>
              <a:rPr lang="en-US" altLang="zh-CN" dirty="0"/>
              <a:t>0~255 </a:t>
            </a:r>
            <a:r>
              <a:rPr lang="zh-CN" altLang="en-US" dirty="0"/>
              <a:t>共 </a:t>
            </a:r>
            <a:r>
              <a:rPr lang="en-US" altLang="zh-CN" dirty="0"/>
              <a:t>256 </a:t>
            </a:r>
            <a:r>
              <a:rPr lang="zh-CN" altLang="en-US" dirty="0"/>
              <a:t>种符号），统计每个符号出现的次数（频率）。</a:t>
            </a:r>
          </a:p>
          <a:p>
            <a:r>
              <a:rPr lang="zh-CN" altLang="en-US" b="1" dirty="0"/>
              <a:t>        构建哈夫曼树</a:t>
            </a:r>
            <a:endParaRPr lang="en-US" altLang="zh-CN" b="1" dirty="0"/>
          </a:p>
          <a:p>
            <a:r>
              <a:rPr lang="zh-CN" altLang="en-US" dirty="0"/>
              <a:t>将每个符号及其频率视为一个叶子节点，放入最小堆（优先队列）。每次从堆中取出两个频率最小的节点，合并成一个新内部节点（频率为两子节点之和）。将新节点放回堆中，重复直到只剩一个节点，即哈夫曼树的根。树的每条左分支代表二进制 </a:t>
            </a:r>
            <a:r>
              <a:rPr lang="en-US" altLang="zh-CN" dirty="0"/>
              <a:t>0</a:t>
            </a:r>
            <a:r>
              <a:rPr lang="zh-CN" altLang="en-US" dirty="0"/>
              <a:t>，右分支代表 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        生成哈夫曼编码</a:t>
            </a:r>
            <a:br>
              <a:rPr lang="zh-CN" altLang="en-US" dirty="0"/>
            </a:br>
            <a:r>
              <a:rPr lang="zh-CN" altLang="en-US" dirty="0"/>
              <a:t>从根节点深度优先遍历树，到达叶子时，沿途路径上的 </a:t>
            </a:r>
            <a:r>
              <a:rPr lang="en-US" altLang="zh-CN" dirty="0"/>
              <a:t>0/1 </a:t>
            </a:r>
            <a:r>
              <a:rPr lang="zh-CN" altLang="en-US" dirty="0"/>
              <a:t>序列就是该符号的编码。</a:t>
            </a:r>
            <a:br>
              <a:rPr lang="zh-CN" altLang="en-US" dirty="0"/>
            </a:br>
            <a:r>
              <a:rPr lang="zh-CN" altLang="en-US" dirty="0"/>
              <a:t>此时得到的是</a:t>
            </a:r>
            <a:r>
              <a:rPr lang="zh-CN" altLang="en-US" b="1" dirty="0"/>
              <a:t>基础哈夫曼码</a:t>
            </a:r>
            <a:r>
              <a:rPr lang="zh-CN" altLang="en-US" dirty="0"/>
              <a:t>，但为了让码表更紧凑，我们通常进一步转化为</a:t>
            </a:r>
            <a:r>
              <a:rPr lang="zh-CN" altLang="en-US" b="1" dirty="0"/>
              <a:t>规范哈夫曼码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        规范哈夫曼码（</a:t>
            </a:r>
            <a:r>
              <a:rPr lang="en-US" altLang="zh-CN" b="1" dirty="0"/>
              <a:t>Canonical Huffman Code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zh-CN" altLang="en-US" dirty="0"/>
              <a:t>只保留每个符号的</a:t>
            </a:r>
            <a:r>
              <a:rPr lang="zh-CN" altLang="en-US" b="1" dirty="0"/>
              <a:t>码长</a:t>
            </a:r>
            <a:r>
              <a:rPr lang="zh-CN" altLang="en-US" dirty="0"/>
              <a:t>（不需要完整的树结构）。将所有符号按（码长递增，同码长按符号值递增）排序。从编码值 </a:t>
            </a:r>
            <a:r>
              <a:rPr lang="en-US" altLang="zh-CN" dirty="0"/>
              <a:t>0</a:t>
            </a:r>
            <a:r>
              <a:rPr lang="zh-CN" altLang="en-US" dirty="0"/>
              <a:t> 开始，依次为每个符号分配码字：若当前符号的码长比前一个长，则将当前编码值</a:t>
            </a:r>
            <a:r>
              <a:rPr lang="zh-CN" altLang="en-US" b="1" dirty="0"/>
              <a:t>左移</a:t>
            </a:r>
            <a:r>
              <a:rPr lang="zh-CN" altLang="en-US" dirty="0"/>
              <a:t>相应的位数（低位补 </a:t>
            </a:r>
            <a:r>
              <a:rPr lang="en-US" altLang="zh-CN" dirty="0"/>
              <a:t>0</a:t>
            </a:r>
            <a:r>
              <a:rPr lang="zh-CN" altLang="en-US" dirty="0"/>
              <a:t>）。然后将编码值分配给该符号，最后编码值加 </a:t>
            </a:r>
            <a:r>
              <a:rPr lang="en-US" altLang="zh-CN" dirty="0"/>
              <a:t>1 </a:t>
            </a:r>
            <a:r>
              <a:rPr lang="zh-CN" altLang="en-US" dirty="0"/>
              <a:t>供下一个符号使用。这种编码与基础哈夫曼码效果相同，但只需存储码长表，极大减少了码表开销。</a:t>
            </a:r>
          </a:p>
          <a:p>
            <a:r>
              <a:rPr lang="zh-CN" altLang="en-US" b="1" dirty="0"/>
              <a:t>        写入压缩文件</a:t>
            </a:r>
            <a:endParaRPr lang="en-US" altLang="zh-CN" b="1" dirty="0"/>
          </a:p>
          <a:p>
            <a:r>
              <a:rPr lang="zh-CN" altLang="en-US" dirty="0"/>
              <a:t>先写入</a:t>
            </a:r>
            <a:r>
              <a:rPr lang="zh-CN" altLang="en-US" b="1" dirty="0"/>
              <a:t>码长表</a:t>
            </a:r>
            <a:r>
              <a:rPr lang="zh-CN" altLang="en-US" dirty="0"/>
              <a:t>（符号及对应码长），供解码端重建编码表。再写入原始数据大小（用于解压时验证）。最后将原始数据的每个符号替换成对应的可变长编码，拼接成比特流写入文件。</a:t>
            </a:r>
          </a:p>
          <a:p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84F35AA-751E-E115-89B9-09F8FB58D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61" y="1620727"/>
            <a:ext cx="5231096" cy="499554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AE8A31F2-A370-0ECB-E40A-EE43243F919D}"/>
              </a:ext>
            </a:extLst>
          </p:cNvPr>
          <p:cNvSpPr txBox="1"/>
          <p:nvPr/>
        </p:nvSpPr>
        <p:spPr>
          <a:xfrm>
            <a:off x="772632" y="960025"/>
            <a:ext cx="11029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其中</a:t>
            </a:r>
            <a:r>
              <a:rPr lang="en-US" altLang="zh-CN" sz="1800" dirty="0" err="1"/>
              <a:t>CompressFile</a:t>
            </a:r>
            <a:r>
              <a:rPr lang="en-US" altLang="zh-CN" sz="1800" dirty="0"/>
              <a:t> </a:t>
            </a:r>
            <a:r>
              <a:rPr lang="zh-CN" altLang="en-US" sz="1800" dirty="0"/>
              <a:t>和 </a:t>
            </a:r>
            <a:r>
              <a:rPr lang="en-US" altLang="zh-CN" sz="1800" dirty="0" err="1"/>
              <a:t>CompressFiles</a:t>
            </a:r>
            <a:r>
              <a:rPr lang="en-US" altLang="zh-CN" sz="1800" dirty="0"/>
              <a:t> </a:t>
            </a:r>
            <a:r>
              <a:rPr lang="zh-CN" altLang="en-US" sz="1800" dirty="0"/>
              <a:t>函数负责频率统计、写入文件头和数据流。</a:t>
            </a:r>
          </a:p>
          <a:p>
            <a:endParaRPr lang="zh-CN" altLang="en-US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3FA399F-FF31-8CFD-2BA3-CBFF541EF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1620727"/>
            <a:ext cx="5664069" cy="4987939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8D2210C8-D596-78D6-3FCF-8E546C88D3EB}"/>
              </a:ext>
            </a:extLst>
          </p:cNvPr>
          <p:cNvSpPr txBox="1"/>
          <p:nvPr/>
        </p:nvSpPr>
        <p:spPr>
          <a:xfrm>
            <a:off x="1197934" y="995624"/>
            <a:ext cx="10178901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Bef>
                <a:spcPts val="1200"/>
              </a:spcBef>
            </a:pPr>
            <a:r>
              <a:rPr lang="en-US" altLang="zh-CN" sz="1800" b="0" i="0" dirty="0" err="1">
                <a:solidFill>
                  <a:schemeClr val="tx1"/>
                </a:solidFill>
                <a:effectLst/>
                <a:latin typeface="Menlo"/>
              </a:rPr>
              <a:t>GenerateCanonicalCodes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quote-cjk-patch"/>
              </a:rPr>
              <a:t>同时承担了建树、码长获取、规范码生成三项核心任务。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D0399D1E-005C-E874-BD61-35A22099A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47" y="1620727"/>
            <a:ext cx="5017520" cy="4998478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73CEE5D7-12E2-765C-FD58-43ACC0AB6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7674" y="1620727"/>
            <a:ext cx="5426982" cy="4987939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D3A82D3C-FDDA-14E2-4A36-C77C25C25B57}"/>
              </a:ext>
            </a:extLst>
          </p:cNvPr>
          <p:cNvSpPr txBox="1"/>
          <p:nvPr/>
        </p:nvSpPr>
        <p:spPr>
          <a:xfrm>
            <a:off x="3023190" y="1002387"/>
            <a:ext cx="6145618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zh-CN" sz="1800" b="0" i="0" dirty="0" err="1">
                <a:solidFill>
                  <a:schemeClr val="tx1"/>
                </a:solidFill>
                <a:effectLst/>
                <a:latin typeface="Menlo"/>
              </a:rPr>
              <a:t>WriteCodeTable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quote-cjk-patch"/>
              </a:rPr>
              <a:t>负责码表序列化</a:t>
            </a:r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。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C083B74B-6EB6-743E-FBF9-2798D20188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060" y="1663609"/>
            <a:ext cx="8087833" cy="4952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2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28" grpId="1"/>
      <p:bldP spid="29" grpId="0"/>
      <p:bldP spid="29" grpId="1"/>
      <p:bldP spid="36" grpId="0"/>
      <p:bldP spid="36" grpId="1"/>
      <p:bldP spid="42" grpId="0"/>
      <p:bldP spid="4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952571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核心函数详解（2）—— </a:t>
            </a: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单文件压缩</a:t>
            </a:r>
            <a:r>
              <a:rPr lang="en-US" sz="32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解压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263972"/>
            <a:ext cx="5270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63972"/>
            <a:ext cx="52705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454472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CompressFile</a:t>
            </a:r>
            <a:r>
              <a:rPr lang="en-US" sz="18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单文件压缩流程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3025972"/>
            <a:ext cx="4889500" cy="20955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3127572"/>
            <a:ext cx="4635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二进制模式读取源文件，首次遍历逐字节统计字符频率；基于频率调用生成规范码表后，写入包含原始大小与码表的压缩文件头。二次遍历文件时，将字节替换为哈夫曼编码，通过位缓冲技术突破字节粒度限制，按位流式写入输出文件，完成从原始数据到紧凑编码的转换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42774" y="2231719"/>
            <a:ext cx="5270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42774" y="2231719"/>
            <a:ext cx="52705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33274" y="2422219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DecompressFile</a:t>
            </a:r>
            <a:r>
              <a:rPr lang="en-US" sz="18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单文件解压流程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33274" y="2993719"/>
            <a:ext cx="4889500" cy="20955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60274" y="3095319"/>
            <a:ext cx="4635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读取压缩文件头还原原始尺寸与码表，动态构建解码树；按位读取压缩数据流，从根节点开始遍历解码树，遇叶节点即输出对应原始符号并重置指针。持续解码直至输出字节数匹配原始大小，通过严格的长度校验机制，保证解压后数据与源文件的完全一致性，实现无损还原。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5361804">
            <a:off x="2222500" y="5581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5939BCB-72A7-1630-BCB4-F37D1BD52356}"/>
              </a:ext>
            </a:extLst>
          </p:cNvPr>
          <p:cNvSpPr txBox="1"/>
          <p:nvPr/>
        </p:nvSpPr>
        <p:spPr>
          <a:xfrm>
            <a:off x="145752" y="298026"/>
            <a:ext cx="6097022" cy="79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40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huffman.h</a:t>
            </a:r>
            <a:endParaRPr lang="en-US" altLang="zh-CN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 animBg="1"/>
      <p:bldP spid="4" grpId="1" animBg="1"/>
      <p:bldP spid="5" grpId="0" animBg="1"/>
      <p:bldP spid="5" grpId="1" animBg="1"/>
      <p:bldP spid="6" grpId="0"/>
      <p:bldP spid="6" grpId="1"/>
      <p:bldP spid="7" grpId="0" animBg="1"/>
      <p:bldP spid="7" grpId="1" animBg="1"/>
      <p:bldP spid="8" grpId="0"/>
      <p:bldP spid="8" grpId="1"/>
      <p:bldP spid="9" grpId="0" animBg="1"/>
      <p:bldP spid="9" grpId="1" animBg="1"/>
      <p:bldP spid="10" grpId="0" animBg="1"/>
      <p:bldP spid="10" grpId="1" animBg="1"/>
      <p:bldP spid="11" grpId="0"/>
      <p:bldP spid="11" grpId="1"/>
      <p:bldP spid="12" grpId="0" animBg="1"/>
      <p:bldP spid="12" grpId="1" animBg="1"/>
      <p:bldP spid="13" grpId="0"/>
      <p:bldP spid="13" grpId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012574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核心函数详解（3）—— </a:t>
            </a: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多文件归档压缩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6223000" y="4381500"/>
            <a:ext cx="514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18B121-80AA-53AE-C01D-EE47B69843F8}"/>
              </a:ext>
            </a:extLst>
          </p:cNvPr>
          <p:cNvSpPr txBox="1"/>
          <p:nvPr/>
        </p:nvSpPr>
        <p:spPr>
          <a:xfrm>
            <a:off x="145752" y="298026"/>
            <a:ext cx="6097022" cy="79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40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huffman.h</a:t>
            </a:r>
            <a:endParaRPr lang="en-US" altLang="zh-CN" sz="4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2448748-ADD0-9E02-DA47-7836436BF2B0}"/>
              </a:ext>
            </a:extLst>
          </p:cNvPr>
          <p:cNvSpPr txBox="1"/>
          <p:nvPr/>
        </p:nvSpPr>
        <p:spPr>
          <a:xfrm>
            <a:off x="829340" y="2020186"/>
            <a:ext cx="10285227" cy="33239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CompressFiles</a:t>
            </a:r>
            <a:r>
              <a:rPr lang="zh-CN" altLang="en-US" dirty="0"/>
              <a:t> 流程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遍历输入路径列表，若为目录则调用 </a:t>
            </a:r>
            <a:r>
              <a:rPr lang="en-US" altLang="zh-CN" dirty="0" err="1"/>
              <a:t>CollectFilesRecursive</a:t>
            </a:r>
            <a:r>
              <a:rPr lang="en-US" altLang="zh-CN" dirty="0"/>
              <a:t> </a:t>
            </a:r>
            <a:r>
              <a:rPr lang="zh-CN" altLang="en-US" dirty="0"/>
              <a:t>递归收集所有普通文件并计算相对于基准目录的相对路径；若为普通文件则直接加入，得到完整路径与相对路径两个列表。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为每个文件构建 </a:t>
            </a:r>
            <a:r>
              <a:rPr lang="en-US" altLang="zh-CN" dirty="0" err="1"/>
              <a:t>FileEntry</a:t>
            </a:r>
            <a:r>
              <a:rPr lang="en-US" altLang="zh-CN" dirty="0"/>
              <a:t> </a:t>
            </a:r>
            <a:r>
              <a:rPr lang="zh-CN" altLang="en-US" dirty="0"/>
              <a:t>元数据，记录相对路径并通过 </a:t>
            </a:r>
            <a:r>
              <a:rPr lang="en-US" altLang="zh-CN" dirty="0"/>
              <a:t>fs::</a:t>
            </a:r>
            <a:r>
              <a:rPr lang="en-US" altLang="zh-CN" dirty="0" err="1"/>
              <a:t>file_size</a:t>
            </a:r>
            <a:r>
              <a:rPr lang="en-US" altLang="zh-CN" dirty="0"/>
              <a:t> </a:t>
            </a:r>
            <a:r>
              <a:rPr lang="zh-CN" altLang="en-US" dirty="0"/>
              <a:t>获取原始文件大小。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计算归档头部大小：</a:t>
            </a:r>
            <a:r>
              <a:rPr lang="en-US" altLang="zh-CN" dirty="0"/>
              <a:t>4</a:t>
            </a:r>
            <a:r>
              <a:rPr lang="zh-CN" altLang="en-US" dirty="0"/>
              <a:t>字节魔数 </a:t>
            </a:r>
            <a:r>
              <a:rPr lang="en-US" altLang="zh-CN" dirty="0"/>
              <a:t>+ 4</a:t>
            </a:r>
            <a:r>
              <a:rPr lang="zh-CN" altLang="en-US" dirty="0"/>
              <a:t>字节文件数量 </a:t>
            </a:r>
            <a:r>
              <a:rPr lang="en-US" altLang="zh-CN" dirty="0"/>
              <a:t>+ </a:t>
            </a:r>
            <a:r>
              <a:rPr lang="zh-CN" altLang="en-US" dirty="0"/>
              <a:t>各文件条目（</a:t>
            </a:r>
            <a:r>
              <a:rPr lang="en-US" altLang="zh-CN" dirty="0"/>
              <a:t>2</a:t>
            </a:r>
            <a:r>
              <a:rPr lang="zh-CN" altLang="en-US" dirty="0"/>
              <a:t>字节路径长度 </a:t>
            </a:r>
            <a:r>
              <a:rPr lang="en-US" altLang="zh-CN" dirty="0"/>
              <a:t>+ UTF‑8 </a:t>
            </a:r>
            <a:r>
              <a:rPr lang="zh-CN" altLang="en-US" dirty="0"/>
              <a:t>路径字符串字节数 </a:t>
            </a:r>
            <a:r>
              <a:rPr lang="en-US" altLang="zh-CN" dirty="0"/>
              <a:t>+ 8</a:t>
            </a:r>
            <a:r>
              <a:rPr lang="zh-CN" altLang="en-US" dirty="0"/>
              <a:t>字节原始大小 </a:t>
            </a:r>
            <a:r>
              <a:rPr lang="en-US" altLang="zh-CN" dirty="0"/>
              <a:t>+ 8</a:t>
            </a:r>
            <a:r>
              <a:rPr lang="zh-CN" altLang="en-US" dirty="0"/>
              <a:t>字节数据偏移 </a:t>
            </a:r>
            <a:r>
              <a:rPr lang="en-US" altLang="zh-CN" dirty="0"/>
              <a:t>+ 8</a:t>
            </a:r>
            <a:r>
              <a:rPr lang="zh-CN" altLang="en-US" dirty="0"/>
              <a:t>字节压缩大小）。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创建归档文件，先写入等长大小的全零占位头，预留后续回填空间，并设置数据起始偏移 </a:t>
            </a:r>
            <a:r>
              <a:rPr lang="en-US" altLang="zh-CN" dirty="0" err="1"/>
              <a:t>currentOffset</a:t>
            </a:r>
            <a:r>
              <a:rPr lang="en-US" altLang="zh-CN" dirty="0"/>
              <a:t> = </a:t>
            </a:r>
            <a:r>
              <a:rPr lang="en-US" altLang="zh-CN" dirty="0" err="1"/>
              <a:t>headerSize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5.</a:t>
            </a:r>
            <a:r>
              <a:rPr lang="zh-CN" altLang="en-US" dirty="0"/>
              <a:t>逐个文件进行压缩：</a:t>
            </a:r>
          </a:p>
          <a:p>
            <a:r>
              <a:rPr lang="zh-CN" altLang="en-US" dirty="0"/>
              <a:t>          打开文件，读取全部字节统计频率；调用 </a:t>
            </a:r>
            <a:r>
              <a:rPr lang="en-US" altLang="zh-CN" dirty="0" err="1"/>
              <a:t>GenerateCanonicalCodes</a:t>
            </a:r>
            <a:r>
              <a:rPr lang="en-US" altLang="zh-CN" dirty="0"/>
              <a:t> </a:t>
            </a:r>
            <a:r>
              <a:rPr lang="zh-CN" altLang="en-US" dirty="0"/>
              <a:t>生成规范哈夫曼码和码长表，记录当前 </a:t>
            </a:r>
            <a:r>
              <a:rPr lang="en-US" altLang="zh-CN" dirty="0" err="1"/>
              <a:t>currentOffset</a:t>
            </a:r>
            <a:r>
              <a:rPr lang="en-US" altLang="zh-CN" dirty="0"/>
              <a:t> </a:t>
            </a:r>
            <a:r>
              <a:rPr lang="zh-CN" altLang="en-US" dirty="0"/>
              <a:t>作为该文件的数据偏移；写入</a:t>
            </a:r>
            <a:r>
              <a:rPr lang="en-US" altLang="zh-CN" dirty="0"/>
              <a:t>8</a:t>
            </a:r>
            <a:r>
              <a:rPr lang="zh-CN" altLang="en-US" dirty="0"/>
              <a:t>字节占位压缩大小（记录写位置用于回填）；写入</a:t>
            </a:r>
            <a:r>
              <a:rPr lang="en-US" altLang="zh-CN" dirty="0"/>
              <a:t>8</a:t>
            </a:r>
            <a:r>
              <a:rPr lang="zh-CN" altLang="en-US" dirty="0"/>
              <a:t>字节原始大小，调用 </a:t>
            </a:r>
            <a:r>
              <a:rPr lang="en-US" altLang="zh-CN" dirty="0" err="1"/>
              <a:t>WriteCodeTable</a:t>
            </a:r>
            <a:r>
              <a:rPr lang="en-US" altLang="zh-CN" dirty="0"/>
              <a:t> </a:t>
            </a:r>
            <a:r>
              <a:rPr lang="zh-CN" altLang="en-US" dirty="0"/>
              <a:t>写入码表；二次读取文件，将每个字节替换为对应编码，经位缓冲满</a:t>
            </a:r>
            <a:r>
              <a:rPr lang="en-US" altLang="zh-CN" dirty="0"/>
              <a:t>8</a:t>
            </a:r>
            <a:r>
              <a:rPr lang="zh-CN" altLang="en-US" dirty="0"/>
              <a:t>位写入输出；刷新位缓冲，计算实际压缩大小，回填到占位处；</a:t>
            </a:r>
          </a:p>
          <a:p>
            <a:r>
              <a:rPr lang="zh-CN" altLang="en-US" dirty="0"/>
              <a:t>更新 </a:t>
            </a:r>
            <a:r>
              <a:rPr lang="en-US" altLang="zh-CN" dirty="0" err="1"/>
              <a:t>currentOffset</a:t>
            </a:r>
            <a:r>
              <a:rPr lang="en-US" altLang="zh-CN" dirty="0"/>
              <a:t> </a:t>
            </a:r>
            <a:r>
              <a:rPr lang="zh-CN" altLang="en-US" dirty="0"/>
              <a:t>为下一文件起始位置。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所有文件处理完毕后，将写指针移动到文件开头，回填真实头部：写入魔数 </a:t>
            </a:r>
            <a:r>
              <a:rPr lang="en-US" altLang="zh-CN" dirty="0"/>
              <a:t>ARCHIVE_MAGIC</a:t>
            </a:r>
            <a:r>
              <a:rPr lang="zh-CN" altLang="en-US" dirty="0"/>
              <a:t>；写入文件数量；循环写入每个 </a:t>
            </a:r>
            <a:r>
              <a:rPr lang="en-US" altLang="zh-CN" dirty="0" err="1"/>
              <a:t>FileEntry</a:t>
            </a:r>
            <a:r>
              <a:rPr lang="zh-CN" altLang="en-US" dirty="0"/>
              <a:t>：路径长度、</a:t>
            </a:r>
            <a:r>
              <a:rPr lang="en-US" altLang="zh-CN" dirty="0"/>
              <a:t>UTF‑8 </a:t>
            </a:r>
            <a:r>
              <a:rPr lang="zh-CN" altLang="en-US" dirty="0"/>
              <a:t>路径、原始大小、数据偏移、压缩大小。</a:t>
            </a:r>
          </a:p>
          <a:p>
            <a:r>
              <a:rPr lang="en-US" altLang="zh-CN" dirty="0"/>
              <a:t>7.</a:t>
            </a:r>
            <a:r>
              <a:rPr lang="zh-CN" altLang="en-US" dirty="0"/>
              <a:t>检查输出流状态，返回压缩成功或失败。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4" grpId="0"/>
      <p:bldP spid="35" grpId="0" animBg="1"/>
      <p:bldP spid="3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8CFB1FD-04DB-98ED-7C1A-34702F8C5C96}"/>
              </a:ext>
            </a:extLst>
          </p:cNvPr>
          <p:cNvSpPr txBox="1"/>
          <p:nvPr/>
        </p:nvSpPr>
        <p:spPr>
          <a:xfrm>
            <a:off x="216636" y="269673"/>
            <a:ext cx="6097022" cy="79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4000" b="1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main.cpp</a:t>
            </a:r>
            <a:endParaRPr lang="en-US" altLang="zh-CN" sz="4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553C73E-A528-84D0-E64D-5F93F2AD367E}"/>
              </a:ext>
            </a:extLst>
          </p:cNvPr>
          <p:cNvSpPr txBox="1"/>
          <p:nvPr/>
        </p:nvSpPr>
        <p:spPr>
          <a:xfrm>
            <a:off x="304800" y="1928037"/>
            <a:ext cx="11157098" cy="3631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宽</a:t>
            </a:r>
            <a:r>
              <a:rPr lang="zh-CN" altLang="en-US" sz="1800" b="1" dirty="0"/>
              <a:t>字符入口</a:t>
            </a:r>
            <a:r>
              <a:rPr lang="zh-CN" altLang="en-US" sz="1800" dirty="0"/>
              <a:t>：使用 </a:t>
            </a:r>
            <a:r>
              <a:rPr lang="en-US" altLang="zh-CN" sz="1800" dirty="0" err="1"/>
              <a:t>wmain</a:t>
            </a:r>
            <a:r>
              <a:rPr lang="zh-CN" altLang="en-US" sz="1800" dirty="0"/>
              <a:t> 直接接收 </a:t>
            </a:r>
            <a:r>
              <a:rPr lang="en-US" altLang="zh-CN" sz="1800" dirty="0"/>
              <a:t>Unicode </a:t>
            </a:r>
            <a:r>
              <a:rPr lang="zh-CN" altLang="en-US" sz="1800" dirty="0"/>
              <a:t>命令行参数，确保中文等特殊路径能被正确识别。</a:t>
            </a:r>
          </a:p>
          <a:p>
            <a:r>
              <a:rPr lang="en-US" altLang="zh-CN" sz="1800" b="1" dirty="0"/>
              <a:t>2.</a:t>
            </a:r>
            <a:r>
              <a:rPr lang="zh-CN" altLang="en-US" sz="1800" b="1" dirty="0"/>
              <a:t>模式分发</a:t>
            </a:r>
            <a:r>
              <a:rPr lang="zh-CN" altLang="en-US" sz="1800" dirty="0"/>
              <a:t>：根据第一个参数（</a:t>
            </a:r>
            <a:r>
              <a:rPr lang="en-US" altLang="zh-CN" sz="1800" dirty="0"/>
              <a:t>-11</a:t>
            </a:r>
            <a:r>
              <a:rPr lang="zh-CN" altLang="en-US" sz="1800" dirty="0"/>
              <a:t>、</a:t>
            </a:r>
            <a:r>
              <a:rPr lang="en-US" altLang="zh-CN" sz="1800" dirty="0"/>
              <a:t>-12</a:t>
            </a:r>
            <a:r>
              <a:rPr lang="zh-CN" altLang="en-US" sz="1800" dirty="0"/>
              <a:t>、</a:t>
            </a:r>
            <a:r>
              <a:rPr lang="en-US" altLang="zh-CN" sz="1800" dirty="0"/>
              <a:t>-13</a:t>
            </a:r>
            <a:r>
              <a:rPr lang="zh-CN" altLang="en-US" sz="1800" dirty="0"/>
              <a:t>、</a:t>
            </a:r>
            <a:r>
              <a:rPr lang="en-US" altLang="zh-CN" sz="1800" dirty="0"/>
              <a:t>-21</a:t>
            </a:r>
            <a:r>
              <a:rPr lang="zh-CN" altLang="en-US" sz="1800" dirty="0"/>
              <a:t>、</a:t>
            </a:r>
            <a:r>
              <a:rPr lang="en-US" altLang="zh-CN" sz="1800" dirty="0"/>
              <a:t>-22/-23</a:t>
            </a:r>
            <a:r>
              <a:rPr lang="zh-CN" altLang="en-US" sz="1800" dirty="0"/>
              <a:t>）判断用户意图，执行对应的单文件压缩、多文件压缩、文件夹压缩、单文件解压、归档解压。</a:t>
            </a:r>
          </a:p>
          <a:p>
            <a:r>
              <a:rPr lang="en-US" altLang="zh-CN" sz="1800" b="1" dirty="0"/>
              <a:t>3.</a:t>
            </a:r>
            <a:r>
              <a:rPr lang="zh-CN" altLang="en-US" sz="1800" b="1" dirty="0"/>
              <a:t>通配符支持</a:t>
            </a:r>
            <a:r>
              <a:rPr lang="zh-CN" altLang="en-US" sz="1800" dirty="0"/>
              <a:t>：内置 </a:t>
            </a:r>
            <a:r>
              <a:rPr lang="en-US" altLang="zh-CN" sz="1800" dirty="0" err="1"/>
              <a:t>WildcardMatch</a:t>
            </a:r>
            <a:r>
              <a:rPr lang="zh-CN" altLang="en-US" sz="1800" dirty="0"/>
              <a:t> 和 </a:t>
            </a:r>
            <a:r>
              <a:rPr lang="en-US" altLang="zh-CN" sz="1800" dirty="0" err="1"/>
              <a:t>ExpandWildcard</a:t>
            </a:r>
            <a:r>
              <a:rPr lang="zh-CN" altLang="en-US" sz="1800" dirty="0"/>
              <a:t>，可自行展开 *</a:t>
            </a:r>
            <a:r>
              <a:rPr lang="en-US" altLang="zh-CN" sz="1800" dirty="0"/>
              <a:t>.txt</a:t>
            </a:r>
            <a:r>
              <a:rPr lang="zh-CN" altLang="en-US" sz="1800" dirty="0"/>
              <a:t> 等模式，不依赖 </a:t>
            </a:r>
            <a:r>
              <a:rPr lang="en-US" altLang="zh-CN" sz="1800" dirty="0"/>
              <a:t>shell</a:t>
            </a:r>
            <a:r>
              <a:rPr lang="zh-CN" altLang="en-US" sz="1800" dirty="0"/>
              <a:t>，保证 </a:t>
            </a:r>
            <a:r>
              <a:rPr lang="en-US" altLang="zh-CN" sz="1800" dirty="0" err="1"/>
              <a:t>cmd</a:t>
            </a:r>
            <a:r>
              <a:rPr lang="en-US" altLang="zh-CN" sz="1800" dirty="0"/>
              <a:t> </a:t>
            </a:r>
            <a:r>
              <a:rPr lang="zh-CN" altLang="en-US" sz="1800" dirty="0"/>
              <a:t>和 </a:t>
            </a:r>
            <a:r>
              <a:rPr lang="en-US" altLang="zh-CN" sz="1800" dirty="0"/>
              <a:t>PowerShell </a:t>
            </a:r>
            <a:r>
              <a:rPr lang="zh-CN" altLang="en-US" sz="1800" dirty="0"/>
              <a:t>下行为一致。</a:t>
            </a:r>
          </a:p>
          <a:p>
            <a:r>
              <a:rPr lang="en-US" altLang="zh-CN" sz="1800" b="1" dirty="0"/>
              <a:t>4.</a:t>
            </a:r>
            <a:r>
              <a:rPr lang="zh-CN" altLang="en-US" sz="1800" b="1" dirty="0"/>
              <a:t>智能输出命名</a:t>
            </a:r>
            <a:r>
              <a:rPr lang="zh-CN" altLang="en-US" sz="1800" dirty="0"/>
              <a:t>：自动生成默认输出文件名（如单文件加 </a:t>
            </a:r>
            <a:r>
              <a:rPr lang="en-US" altLang="zh-CN" sz="1800" dirty="0"/>
              <a:t>.</a:t>
            </a:r>
            <a:r>
              <a:rPr lang="en-US" altLang="zh-CN" sz="1800" dirty="0" err="1"/>
              <a:t>huf</a:t>
            </a:r>
            <a:r>
              <a:rPr lang="zh-CN" altLang="en-US" sz="1800" dirty="0"/>
              <a:t>，多文件文件名串联，文件夹同名前缀），并支持手动指定。</a:t>
            </a:r>
          </a:p>
          <a:p>
            <a:r>
              <a:rPr lang="en-US" altLang="zh-CN" sz="1800" b="1" dirty="0"/>
              <a:t>5.</a:t>
            </a:r>
            <a:r>
              <a:rPr lang="zh-CN" altLang="en-US" sz="1800" b="1" dirty="0"/>
              <a:t>进度与统计</a:t>
            </a:r>
            <a:r>
              <a:rPr lang="zh-CN" altLang="en-US" sz="1800" dirty="0"/>
              <a:t>：调用 </a:t>
            </a:r>
            <a:r>
              <a:rPr lang="en-US" altLang="zh-CN" sz="1800" dirty="0" err="1"/>
              <a:t>ShowProgress</a:t>
            </a:r>
            <a:r>
              <a:rPr lang="zh-CN" altLang="en-US" sz="1800" dirty="0"/>
              <a:t> 在控制台显示实时百分比；压缩完成后通过 </a:t>
            </a:r>
            <a:r>
              <a:rPr lang="en-US" altLang="zh-CN" sz="1800" dirty="0" err="1"/>
              <a:t>PrintCompressStats</a:t>
            </a:r>
            <a:r>
              <a:rPr lang="zh-CN" altLang="en-US" sz="1800" dirty="0"/>
              <a:t> 输出耗时、原始大小、压缩后大小、压缩</a:t>
            </a:r>
            <a:r>
              <a:rPr lang="en-US" altLang="zh-CN" sz="1800" dirty="0"/>
              <a:t>/</a:t>
            </a:r>
            <a:r>
              <a:rPr lang="zh-CN" altLang="en-US" sz="1800" dirty="0"/>
              <a:t>原始百分比、压缩因子和空间节省率。</a:t>
            </a:r>
          </a:p>
          <a:p>
            <a:r>
              <a:rPr lang="en-US" altLang="zh-CN" sz="1800" b="1" dirty="0"/>
              <a:t>6.</a:t>
            </a:r>
            <a:r>
              <a:rPr lang="zh-CN" altLang="en-US" sz="1800" b="1" dirty="0"/>
              <a:t>错误处理与帮助</a:t>
            </a:r>
            <a:r>
              <a:rPr lang="zh-CN" altLang="en-US" sz="1800" dirty="0"/>
              <a:t>：校验参数合法性，输出清晰的错误提示，无参数时打印完整使用说明。</a:t>
            </a:r>
          </a:p>
          <a:p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简言之，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 将底层压缩算法包装为易用的命令行工具，屏蔽了编码细节，让用户通过简单命令即可完成所有操作。</a:t>
            </a:r>
          </a:p>
          <a:p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81361DA-8658-F753-AE4C-828DC0CA0C7B}"/>
              </a:ext>
            </a:extLst>
          </p:cNvPr>
          <p:cNvSpPr txBox="1"/>
          <p:nvPr/>
        </p:nvSpPr>
        <p:spPr>
          <a:xfrm>
            <a:off x="304800" y="1438938"/>
            <a:ext cx="3147238" cy="4832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1-9	</a:t>
            </a:r>
            <a:r>
              <a:rPr lang="zh-CN" altLang="en-US" dirty="0"/>
              <a:t>头文件包含与 </a:t>
            </a:r>
            <a:r>
              <a:rPr lang="en-US" altLang="zh-CN" dirty="0"/>
              <a:t>fs </a:t>
            </a:r>
            <a:r>
              <a:rPr lang="zh-CN" altLang="en-US" dirty="0"/>
              <a:t>别名</a:t>
            </a:r>
          </a:p>
          <a:p>
            <a:r>
              <a:rPr lang="en-US" altLang="zh-CN" dirty="0"/>
              <a:t>12-36	</a:t>
            </a:r>
            <a:r>
              <a:rPr lang="zh-CN" altLang="en-US" dirty="0"/>
              <a:t>宽字符通配符匹配 </a:t>
            </a:r>
            <a:r>
              <a:rPr lang="en-US" altLang="zh-CN" dirty="0" err="1"/>
              <a:t>WildcardMatch</a:t>
            </a:r>
            <a:endParaRPr lang="en-US" altLang="zh-CN" dirty="0"/>
          </a:p>
          <a:p>
            <a:r>
              <a:rPr lang="en-US" altLang="zh-CN" dirty="0"/>
              <a:t>38-63	</a:t>
            </a:r>
            <a:r>
              <a:rPr lang="zh-CN" altLang="en-US" dirty="0"/>
              <a:t>宽字符通配符展开 </a:t>
            </a:r>
            <a:r>
              <a:rPr lang="en-US" altLang="zh-CN" dirty="0" err="1"/>
              <a:t>ExpandWildcard</a:t>
            </a:r>
            <a:endParaRPr lang="en-US" altLang="zh-CN" dirty="0"/>
          </a:p>
          <a:p>
            <a:r>
              <a:rPr lang="en-US" altLang="zh-CN" dirty="0"/>
              <a:t>66-78	</a:t>
            </a:r>
            <a:r>
              <a:rPr lang="zh-CN" altLang="en-US" dirty="0"/>
              <a:t>控制台进度显示 </a:t>
            </a:r>
            <a:r>
              <a:rPr lang="en-US" altLang="zh-CN" dirty="0" err="1"/>
              <a:t>ShowProgress</a:t>
            </a:r>
            <a:endParaRPr lang="en-US" altLang="zh-CN" dirty="0"/>
          </a:p>
          <a:p>
            <a:r>
              <a:rPr lang="en-US" altLang="zh-CN" dirty="0"/>
              <a:t>81-99	</a:t>
            </a:r>
            <a:r>
              <a:rPr lang="zh-CN" altLang="en-US" dirty="0"/>
              <a:t>递归获取总大小 </a:t>
            </a:r>
            <a:r>
              <a:rPr lang="en-US" altLang="zh-CN" dirty="0" err="1"/>
              <a:t>GetTotalSize</a:t>
            </a:r>
            <a:endParaRPr lang="en-US" altLang="zh-CN" dirty="0"/>
          </a:p>
          <a:p>
            <a:r>
              <a:rPr lang="en-US" altLang="zh-CN" dirty="0"/>
              <a:t>102-128	</a:t>
            </a:r>
            <a:r>
              <a:rPr lang="zh-CN" altLang="en-US" dirty="0"/>
              <a:t>压缩统计输出 </a:t>
            </a:r>
            <a:r>
              <a:rPr lang="en-US" altLang="zh-CN" dirty="0" err="1"/>
              <a:t>PrintCompressStats</a:t>
            </a:r>
            <a:endParaRPr lang="en-US" altLang="zh-CN" dirty="0"/>
          </a:p>
          <a:p>
            <a:r>
              <a:rPr lang="en-US" altLang="zh-CN" dirty="0"/>
              <a:t>131-162	</a:t>
            </a:r>
            <a:r>
              <a:rPr lang="zh-CN" altLang="en-US" dirty="0"/>
              <a:t>帮助信息 </a:t>
            </a:r>
            <a:r>
              <a:rPr lang="en-US" altLang="zh-CN" dirty="0" err="1"/>
              <a:t>PrintUsage</a:t>
            </a:r>
            <a:endParaRPr lang="en-US" altLang="zh-CN" dirty="0"/>
          </a:p>
          <a:p>
            <a:r>
              <a:rPr lang="en-US" altLang="zh-CN" dirty="0"/>
              <a:t>165-179	</a:t>
            </a:r>
            <a:r>
              <a:rPr lang="zh-CN" altLang="en-US" dirty="0"/>
              <a:t>自动生成归档名 </a:t>
            </a:r>
            <a:r>
              <a:rPr lang="en-US" altLang="zh-CN" dirty="0" err="1"/>
              <a:t>MakeArchiveName</a:t>
            </a:r>
            <a:endParaRPr lang="en-US" altLang="zh-CN" dirty="0"/>
          </a:p>
          <a:p>
            <a:r>
              <a:rPr lang="en-US" altLang="zh-CN" dirty="0"/>
              <a:t>182-381	</a:t>
            </a:r>
            <a:r>
              <a:rPr lang="zh-CN" altLang="en-US" dirty="0"/>
              <a:t>主函数 </a:t>
            </a:r>
            <a:r>
              <a:rPr lang="en-US" altLang="zh-CN" dirty="0" err="1"/>
              <a:t>wmain</a:t>
            </a:r>
            <a:endParaRPr lang="en-US" altLang="zh-CN" dirty="0"/>
          </a:p>
          <a:p>
            <a:r>
              <a:rPr lang="en-US" altLang="zh-CN" dirty="0"/>
              <a:t>183-186	</a:t>
            </a:r>
            <a:r>
              <a:rPr lang="zh-CN" altLang="en-US" dirty="0"/>
              <a:t>无参数处理</a:t>
            </a:r>
          </a:p>
          <a:p>
            <a:r>
              <a:rPr lang="en-US" altLang="zh-CN" dirty="0"/>
              <a:t>190-229	</a:t>
            </a:r>
            <a:r>
              <a:rPr lang="zh-CN" altLang="en-US" dirty="0"/>
              <a:t>模式 </a:t>
            </a:r>
            <a:r>
              <a:rPr lang="en-US" altLang="zh-CN" dirty="0"/>
              <a:t>-11 </a:t>
            </a:r>
            <a:r>
              <a:rPr lang="zh-CN" altLang="en-US" dirty="0"/>
              <a:t>单文件压缩</a:t>
            </a:r>
          </a:p>
          <a:p>
            <a:r>
              <a:rPr lang="en-US" altLang="zh-CN" dirty="0"/>
              <a:t>231-296	</a:t>
            </a:r>
            <a:r>
              <a:rPr lang="zh-CN" altLang="en-US" dirty="0"/>
              <a:t>模式 </a:t>
            </a:r>
            <a:r>
              <a:rPr lang="en-US" altLang="zh-CN" dirty="0"/>
              <a:t>-12 </a:t>
            </a:r>
            <a:r>
              <a:rPr lang="zh-CN" altLang="en-US" dirty="0"/>
              <a:t>多文件压缩</a:t>
            </a:r>
          </a:p>
          <a:p>
            <a:r>
              <a:rPr lang="en-US" altLang="zh-CN" dirty="0"/>
              <a:t>298-341	</a:t>
            </a:r>
            <a:r>
              <a:rPr lang="zh-CN" altLang="en-US" dirty="0"/>
              <a:t>模式 </a:t>
            </a:r>
            <a:r>
              <a:rPr lang="en-US" altLang="zh-CN" dirty="0"/>
              <a:t>-13 </a:t>
            </a:r>
            <a:r>
              <a:rPr lang="zh-CN" altLang="en-US" dirty="0"/>
              <a:t>文件夹压缩</a:t>
            </a:r>
          </a:p>
          <a:p>
            <a:r>
              <a:rPr lang="en-US" altLang="zh-CN" dirty="0"/>
              <a:t>343-378	</a:t>
            </a:r>
            <a:r>
              <a:rPr lang="zh-CN" altLang="en-US" dirty="0"/>
              <a:t>模式 </a:t>
            </a:r>
            <a:r>
              <a:rPr lang="en-US" altLang="zh-CN" dirty="0"/>
              <a:t>-21 </a:t>
            </a:r>
            <a:r>
              <a:rPr lang="zh-CN" altLang="en-US" dirty="0"/>
              <a:t>单文件解压</a:t>
            </a:r>
          </a:p>
          <a:p>
            <a:r>
              <a:rPr lang="en-US" altLang="zh-CN" dirty="0"/>
              <a:t>380-410	</a:t>
            </a:r>
            <a:r>
              <a:rPr lang="zh-CN" altLang="en-US" dirty="0"/>
              <a:t>模式 </a:t>
            </a:r>
            <a:r>
              <a:rPr lang="en-US" altLang="zh-CN" dirty="0"/>
              <a:t>-22/-23 </a:t>
            </a:r>
            <a:r>
              <a:rPr lang="zh-CN" altLang="en-US" dirty="0"/>
              <a:t>归档解压</a:t>
            </a:r>
          </a:p>
          <a:p>
            <a:r>
              <a:rPr lang="en-US" altLang="zh-CN" dirty="0"/>
              <a:t>412-416	</a:t>
            </a:r>
            <a:r>
              <a:rPr lang="zh-CN" altLang="en-US" dirty="0"/>
              <a:t>未知模式处理</a:t>
            </a:r>
            <a:endParaRPr lang="en-US" altLang="zh-CN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D6ACF6EA-212F-F0D7-198B-C47189FF7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324" y="1438936"/>
            <a:ext cx="3906460" cy="4832092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6287465F-B09F-ECF8-6BE2-6F15221B89CE}"/>
              </a:ext>
            </a:extLst>
          </p:cNvPr>
          <p:cNvSpPr txBox="1"/>
          <p:nvPr/>
        </p:nvSpPr>
        <p:spPr>
          <a:xfrm>
            <a:off x="3656324" y="992372"/>
            <a:ext cx="7727602" cy="30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部分代码代码如下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F01C57-007E-411A-CEB4-306C4F968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638" y="1438937"/>
            <a:ext cx="3906460" cy="48320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37" grpId="1" animBg="1"/>
      <p:bldP spid="38" grpId="0" animBg="1"/>
      <p:bldP spid="38" grpId="1" animBg="1"/>
      <p:bldP spid="43" grpId="0"/>
      <p:bldP spid="4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09107" y="408173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图形用户界面</a:t>
            </a: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设计（</a:t>
            </a:r>
            <a:r>
              <a:rPr lang="en-US" altLang="zh-CN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GU</a:t>
            </a: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32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5370107">
            <a:off x="7397750" y="3009928"/>
            <a:ext cx="146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 rot="5372498">
            <a:off x="5937250" y="5168925"/>
            <a:ext cx="158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154748C-C5E1-A6D4-A44C-9E5A9C417DDA}"/>
              </a:ext>
            </a:extLst>
          </p:cNvPr>
          <p:cNvSpPr txBox="1"/>
          <p:nvPr/>
        </p:nvSpPr>
        <p:spPr>
          <a:xfrm>
            <a:off x="1382233" y="1247553"/>
            <a:ext cx="7903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图形化用户界面设计基于</a:t>
            </a:r>
            <a:r>
              <a:rPr lang="en-US" altLang="zh-CN" dirty="0" err="1"/>
              <a:t>Qtcreator</a:t>
            </a:r>
            <a:r>
              <a:rPr lang="zh-CN" altLang="en-US" dirty="0"/>
              <a:t>实现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F630325-06E2-C940-B37D-AC847833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806" y="1759710"/>
            <a:ext cx="8440622" cy="4757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2" grpId="0"/>
      <p:bldP spid="3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8" name="Connector 8"/>
          <p:cNvCxnSpPr/>
          <p:nvPr/>
        </p:nvCxnSpPr>
        <p:spPr>
          <a:xfrm rot="5367260">
            <a:off x="5429250" y="23114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/>
          <p:cNvCxnSpPr/>
          <p:nvPr/>
        </p:nvCxnSpPr>
        <p:spPr>
          <a:xfrm rot="5363036">
            <a:off x="5505450" y="5816634"/>
            <a:ext cx="1181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">
            <a:extLst>
              <a:ext uri="{FF2B5EF4-FFF2-40B4-BE49-F238E27FC236}">
                <a16:creationId xmlns:a16="http://schemas.microsoft.com/office/drawing/2014/main" id="{085B6593-E9C3-A152-0DA8-CF272D3183A6}"/>
              </a:ext>
            </a:extLst>
          </p:cNvPr>
          <p:cNvSpPr/>
          <p:nvPr/>
        </p:nvSpPr>
        <p:spPr>
          <a:xfrm>
            <a:off x="209107" y="408173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命令行界面</a:t>
            </a: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设计（</a:t>
            </a:r>
            <a:r>
              <a:rPr lang="en-US" altLang="zh-CN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CLI</a:t>
            </a:r>
            <a:r>
              <a:rPr lang="zh-CN" altLang="en-US" sz="3200" b="1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）完成功能</a:t>
            </a:r>
            <a:endParaRPr lang="en-US" sz="11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831E5E8-9387-1545-CF9E-57E81C9D07D3}"/>
              </a:ext>
            </a:extLst>
          </p:cNvPr>
          <p:cNvSpPr txBox="1"/>
          <p:nvPr/>
        </p:nvSpPr>
        <p:spPr>
          <a:xfrm>
            <a:off x="966652" y="1354425"/>
            <a:ext cx="361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必做功能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614DBE9-9744-C098-FE41-DB946474B3D9}"/>
              </a:ext>
            </a:extLst>
          </p:cNvPr>
          <p:cNvSpPr txBox="1"/>
          <p:nvPr/>
        </p:nvSpPr>
        <p:spPr>
          <a:xfrm>
            <a:off x="7424057" y="1354425"/>
            <a:ext cx="3616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选做功能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7C4605F-4D1F-9908-8DC3-90B579925A82}"/>
              </a:ext>
            </a:extLst>
          </p:cNvPr>
          <p:cNvSpPr txBox="1"/>
          <p:nvPr/>
        </p:nvSpPr>
        <p:spPr>
          <a:xfrm>
            <a:off x="313510" y="2055223"/>
            <a:ext cx="56769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1800" b="1" dirty="0"/>
              <a:t>单文件操作</a:t>
            </a:r>
            <a:r>
              <a:rPr lang="zh-CN" altLang="zh-CN" sz="1800" dirty="0"/>
              <a:t>：实现单文件无损压缩、解压缩（解压后与原文件完全一致）。</a:t>
            </a:r>
            <a:r>
              <a:rPr lang="zh-CN" altLang="en-US" sz="1800" dirty="0"/>
              <a:t>完成</a:t>
            </a:r>
            <a:endParaRPr lang="zh-CN" altLang="zh-CN" sz="1800" dirty="0"/>
          </a:p>
          <a:p>
            <a:r>
              <a:rPr lang="zh-CN" altLang="zh-CN" sz="1800" b="1" dirty="0"/>
              <a:t>多文件操作</a:t>
            </a:r>
            <a:r>
              <a:rPr lang="zh-CN" altLang="zh-CN" sz="1800" dirty="0"/>
              <a:t>：多文件压缩为单个文件，解压后还原为多个文件（必须保留文件名）</a:t>
            </a:r>
            <a:r>
              <a:rPr lang="zh-CN" altLang="en-US" sz="1800" dirty="0"/>
              <a:t>完成</a:t>
            </a:r>
            <a:endParaRPr lang="zh-CN" altLang="zh-CN" sz="1800" dirty="0"/>
          </a:p>
          <a:p>
            <a:r>
              <a:rPr lang="zh-CN" altLang="zh-CN" sz="1800" b="1" dirty="0"/>
              <a:t>交互形式</a:t>
            </a:r>
            <a:r>
              <a:rPr lang="zh-CN" altLang="zh-CN" sz="1800" dirty="0"/>
              <a:t>：纯命令行界面（</a:t>
            </a:r>
            <a:r>
              <a:rPr lang="en-US" altLang="zh-CN" sz="1800" dirty="0"/>
              <a:t>CLI</a:t>
            </a:r>
            <a:r>
              <a:rPr lang="zh-CN" altLang="zh-CN" sz="1800" dirty="0"/>
              <a:t>），支持脚本运行，可额外加交互模式。</a:t>
            </a:r>
            <a:r>
              <a:rPr lang="zh-CN" altLang="en-US" sz="1800" dirty="0"/>
              <a:t>完成</a:t>
            </a:r>
            <a:endParaRPr lang="zh-CN" altLang="zh-CN" sz="1800" dirty="0"/>
          </a:p>
          <a:p>
            <a:r>
              <a:rPr lang="zh-CN" altLang="zh-CN" sz="1800" b="1" dirty="0"/>
              <a:t>性能测试</a:t>
            </a:r>
            <a:r>
              <a:rPr lang="zh-CN" altLang="zh-CN" sz="1800" dirty="0"/>
              <a:t>：用</a:t>
            </a:r>
            <a:r>
              <a:rPr lang="en-US" altLang="zh-CN" sz="1800" dirty="0"/>
              <a:t>Benchmark</a:t>
            </a:r>
            <a:r>
              <a:rPr lang="zh-CN" altLang="zh-CN" sz="1800" dirty="0"/>
              <a:t>数据集测试压缩率、压缩时间、解压时间。</a:t>
            </a:r>
            <a:r>
              <a:rPr lang="zh-CN" altLang="en-US" sz="1800" dirty="0"/>
              <a:t>完成</a:t>
            </a:r>
            <a:endParaRPr lang="zh-CN" altLang="zh-CN" sz="1800" dirty="0"/>
          </a:p>
          <a:p>
            <a:r>
              <a:rPr lang="zh-CN" altLang="zh-CN" sz="1800" b="1" dirty="0"/>
              <a:t>对比测试</a:t>
            </a:r>
            <a:r>
              <a:rPr lang="zh-CN" altLang="zh-CN" sz="1800" dirty="0"/>
              <a:t>：与</a:t>
            </a:r>
            <a:r>
              <a:rPr lang="en-US" altLang="zh-CN" sz="1800" dirty="0"/>
              <a:t>Windows</a:t>
            </a:r>
            <a:r>
              <a:rPr lang="zh-CN" altLang="zh-CN" sz="1800" dirty="0"/>
              <a:t>自带压缩、</a:t>
            </a:r>
            <a:r>
              <a:rPr lang="en-US" altLang="zh-CN" sz="1800" dirty="0"/>
              <a:t>WinRAR</a:t>
            </a:r>
            <a:r>
              <a:rPr lang="zh-CN" altLang="zh-CN" sz="1800" dirty="0"/>
              <a:t>、</a:t>
            </a:r>
            <a:r>
              <a:rPr lang="en-US" altLang="zh-CN" sz="1800" dirty="0"/>
              <a:t>7-Zip</a:t>
            </a:r>
            <a:r>
              <a:rPr lang="zh-CN" altLang="zh-CN" sz="1800" dirty="0"/>
              <a:t>做性能对比。</a:t>
            </a:r>
            <a:r>
              <a:rPr lang="zh-CN" altLang="en-US" sz="1800" dirty="0"/>
              <a:t>完成</a:t>
            </a:r>
            <a:endParaRPr lang="zh-CN" altLang="zh-CN" sz="1800" dirty="0"/>
          </a:p>
          <a:p>
            <a:r>
              <a:rPr lang="zh-CN" altLang="zh-CN" sz="1800" b="1" dirty="0"/>
              <a:t>测试数据集</a:t>
            </a:r>
            <a:r>
              <a:rPr lang="zh-CN" altLang="zh-CN" sz="1800" dirty="0"/>
              <a:t>：英文文本、中文弹幕文本等，可通过</a:t>
            </a:r>
            <a:r>
              <a:rPr lang="en-US" altLang="zh-CN" sz="1800" dirty="0"/>
              <a:t>AI</a:t>
            </a:r>
            <a:r>
              <a:rPr lang="zh-CN" altLang="zh-CN" sz="1800" dirty="0"/>
              <a:t>查找数据集。</a:t>
            </a:r>
            <a:r>
              <a:rPr lang="zh-CN" altLang="en-US" sz="1800" dirty="0"/>
              <a:t>完成</a:t>
            </a:r>
            <a:endParaRPr lang="zh-CN" altLang="zh-CN" sz="1800" dirty="0"/>
          </a:p>
          <a:p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886F3BA-1F74-4ED9-FF6B-4CBCEB6C4ACD}"/>
              </a:ext>
            </a:extLst>
          </p:cNvPr>
          <p:cNvSpPr txBox="1"/>
          <p:nvPr/>
        </p:nvSpPr>
        <p:spPr>
          <a:xfrm>
            <a:off x="6108701" y="1992205"/>
            <a:ext cx="58801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多文件支持通配符</a:t>
            </a:r>
            <a:r>
              <a:rPr lang="zh-CN" altLang="en-US" sz="1600" dirty="0"/>
              <a:t> ✅</a:t>
            </a:r>
          </a:p>
          <a:p>
            <a:pPr lvl="1"/>
            <a:r>
              <a:rPr lang="zh-CN" altLang="en-US" sz="1600" dirty="0"/>
              <a:t>实现了 </a:t>
            </a:r>
            <a:r>
              <a:rPr lang="en-US" altLang="zh-CN" sz="1600" dirty="0" err="1"/>
              <a:t>WildcardMatch</a:t>
            </a:r>
            <a:r>
              <a:rPr lang="zh-CN" altLang="en-US" sz="1600" dirty="0"/>
              <a:t> 和 </a:t>
            </a:r>
            <a:r>
              <a:rPr lang="en-US" altLang="zh-CN" sz="1600" dirty="0" err="1"/>
              <a:t>ExpandWildcard</a:t>
            </a:r>
            <a:r>
              <a:rPr lang="zh-CN" altLang="en-US" sz="1600" dirty="0"/>
              <a:t>，支持 * 和 </a:t>
            </a:r>
            <a:r>
              <a:rPr lang="en-US" altLang="zh-CN" sz="1600" dirty="0"/>
              <a:t>?</a:t>
            </a:r>
            <a:r>
              <a:rPr lang="zh-CN" altLang="en-US" sz="1600" dirty="0"/>
              <a:t> 通配符（例如 *</a:t>
            </a:r>
            <a:r>
              <a:rPr lang="en-US" altLang="zh-CN" sz="1600" dirty="0"/>
              <a:t>.txt</a:t>
            </a:r>
            <a:r>
              <a:rPr lang="zh-CN" altLang="en-US" sz="1600" dirty="0"/>
              <a:t>），且不依赖 </a:t>
            </a:r>
            <a:r>
              <a:rPr lang="en-US" altLang="zh-CN" sz="1600" dirty="0"/>
              <a:t>shell </a:t>
            </a:r>
            <a:r>
              <a:rPr lang="zh-CN" altLang="en-US" sz="1600" dirty="0"/>
              <a:t>展开。</a:t>
            </a:r>
          </a:p>
          <a:p>
            <a:r>
              <a:rPr lang="zh-CN" altLang="en-US" sz="1600" b="1" dirty="0"/>
              <a:t>目录</a:t>
            </a:r>
            <a:r>
              <a:rPr lang="en-US" altLang="zh-CN" sz="1600" b="1" dirty="0"/>
              <a:t>+</a:t>
            </a:r>
            <a:r>
              <a:rPr lang="zh-CN" altLang="en-US" sz="1600" b="1" dirty="0"/>
              <a:t>子目录压缩</a:t>
            </a:r>
            <a:r>
              <a:rPr lang="zh-CN" altLang="en-US" sz="1600" dirty="0"/>
              <a:t> ✅</a:t>
            </a:r>
          </a:p>
          <a:p>
            <a:pPr lvl="1"/>
            <a:r>
              <a:rPr lang="en-US" altLang="zh-CN" sz="1600" dirty="0"/>
              <a:t>-13</a:t>
            </a:r>
            <a:r>
              <a:rPr lang="zh-CN" altLang="en-US" sz="1600" dirty="0"/>
              <a:t> 模式可压缩整个文件夹，通过 </a:t>
            </a:r>
            <a:r>
              <a:rPr lang="en-US" altLang="zh-CN" sz="1600" dirty="0" err="1"/>
              <a:t>CollectFilesRecursive</a:t>
            </a:r>
            <a:r>
              <a:rPr lang="zh-CN" altLang="en-US" sz="1600" dirty="0"/>
              <a:t> 递归收集文件，并通过 </a:t>
            </a:r>
            <a:r>
              <a:rPr lang="en-US" altLang="zh-CN" sz="1600" dirty="0" err="1"/>
              <a:t>rootDir</a:t>
            </a:r>
            <a:r>
              <a:rPr lang="zh-CN" altLang="en-US" sz="1600" dirty="0"/>
              <a:t> 参数</a:t>
            </a:r>
            <a:r>
              <a:rPr lang="zh-CN" altLang="en-US" sz="1600" b="1" dirty="0"/>
              <a:t>完整保留目录结构</a:t>
            </a:r>
            <a:r>
              <a:rPr lang="zh-CN" altLang="en-US" sz="1600" dirty="0"/>
              <a:t>信息。</a:t>
            </a:r>
          </a:p>
          <a:p>
            <a:r>
              <a:rPr lang="zh-CN" altLang="en-US" sz="1600" b="1" dirty="0"/>
              <a:t>优化哈夫曼码表</a:t>
            </a:r>
            <a:r>
              <a:rPr lang="zh-CN" altLang="en-US" sz="1600" dirty="0"/>
              <a:t> ✅</a:t>
            </a:r>
          </a:p>
          <a:p>
            <a:pPr lvl="1"/>
            <a:r>
              <a:rPr lang="zh-CN" altLang="en-US" sz="1600" dirty="0"/>
              <a:t>已采用</a:t>
            </a:r>
            <a:r>
              <a:rPr lang="zh-CN" altLang="en-US" sz="1600" b="1" dirty="0"/>
              <a:t>规范哈夫曼码</a:t>
            </a:r>
            <a:r>
              <a:rPr lang="zh-CN" altLang="en-US" sz="1600" dirty="0"/>
              <a:t>（</a:t>
            </a:r>
            <a:r>
              <a:rPr lang="en-US" altLang="zh-CN" sz="1600" dirty="0"/>
              <a:t>Canonical Huffman Code</a:t>
            </a:r>
            <a:r>
              <a:rPr lang="zh-CN" altLang="en-US" sz="1600" dirty="0"/>
              <a:t>），码表仅存储码长，比直接存储编码字符串或完整树结构更紧凑，这本身就是一种有效的码表优化。</a:t>
            </a:r>
          </a:p>
          <a:p>
            <a:r>
              <a:rPr lang="zh-CN" altLang="en-US" sz="1600" b="1" dirty="0"/>
              <a:t>利用文件间相似性结合其他算法</a:t>
            </a:r>
            <a:r>
              <a:rPr lang="zh-CN" altLang="en-US" sz="1600" dirty="0"/>
              <a:t> ❌</a:t>
            </a:r>
          </a:p>
          <a:p>
            <a:pPr lvl="1"/>
            <a:r>
              <a:rPr lang="zh-CN" altLang="en-US" sz="1600" dirty="0"/>
              <a:t>未实现多文件间冗余消除或与其他压缩算法（如 </a:t>
            </a:r>
            <a:r>
              <a:rPr lang="en-US" altLang="zh-CN" sz="1600" dirty="0"/>
              <a:t>LZ</a:t>
            </a:r>
            <a:r>
              <a:rPr lang="zh-CN" altLang="en-US" sz="1600" dirty="0"/>
              <a:t>、</a:t>
            </a:r>
            <a:r>
              <a:rPr lang="en-US" altLang="zh-CN" sz="1600" dirty="0"/>
              <a:t>BWT</a:t>
            </a:r>
            <a:r>
              <a:rPr lang="zh-CN" altLang="en-US" sz="1600" dirty="0"/>
              <a:t>）的结合，</a:t>
            </a:r>
            <a:r>
              <a:rPr lang="en-US" altLang="zh-CN" sz="1600" dirty="0"/>
              <a:t>solid</a:t>
            </a:r>
            <a:r>
              <a:rPr lang="zh-CN" altLang="en-US" sz="1600" dirty="0"/>
              <a:t> 参数预留但未使用。</a:t>
            </a:r>
          </a:p>
          <a:p>
            <a:r>
              <a:rPr lang="zh-CN" altLang="en-US" sz="1600" b="1" dirty="0"/>
              <a:t>其他自主拓展功能</a:t>
            </a:r>
            <a:endParaRPr lang="zh-CN" altLang="en-US" sz="1600" dirty="0"/>
          </a:p>
          <a:p>
            <a:pPr lvl="1"/>
            <a:r>
              <a:rPr lang="zh-CN" altLang="en-US" sz="1600" dirty="0"/>
              <a:t>额外提供了实时进度显示、智能输出文件名生成、</a:t>
            </a:r>
            <a:r>
              <a:rPr lang="en-US" altLang="zh-CN" sz="1600" dirty="0"/>
              <a:t>GUI</a:t>
            </a:r>
            <a:r>
              <a:rPr lang="zh-CN" altLang="en-US" sz="1600" dirty="0"/>
              <a:t>界面、压缩统计多维度输出（压缩因子、节省百分比）等，增强了工具的实用性和用户体验。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40" grpId="0"/>
      <p:bldP spid="4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7683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压缩效果测试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762500" y="3937000"/>
            <a:ext cx="3429000" cy="44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826000" y="39751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0"/>
                </a:solidFill>
                <a:latin typeface="Noto Sans SC"/>
                <a:ea typeface="Noto Sans SC"/>
                <a:cs typeface="Noto Sans SC"/>
                <a:sym typeface="Noto Sans SC"/>
              </a:rPr>
              <a:t>88.7MB → 52.3MB | 耗时仅 4.02s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4699000"/>
            <a:ext cx="1117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62000" y="4699000"/>
            <a:ext cx="63500" cy="1714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8514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651000" y="4851400"/>
            <a:ext cx="952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测试结论</a:t>
            </a:r>
            <a:r>
              <a:rPr lang="en-US" sz="15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5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速度较高 压缩效果不足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1016000" y="5461000"/>
            <a:ext cx="1054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DD58A6B-9496-110D-2075-412B336C77F4}"/>
              </a:ext>
            </a:extLst>
          </p:cNvPr>
          <p:cNvSpPr txBox="1"/>
          <p:nvPr/>
        </p:nvSpPr>
        <p:spPr>
          <a:xfrm>
            <a:off x="711882" y="1460668"/>
            <a:ext cx="2738169" cy="3174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对于大部分</a:t>
            </a:r>
            <a:r>
              <a:rPr lang="en-US" altLang="zh-CN" sz="2000" dirty="0"/>
              <a:t>.txt</a:t>
            </a:r>
            <a:r>
              <a:rPr lang="zh-CN" altLang="en-US" sz="2000" dirty="0"/>
              <a:t>压缩率在</a:t>
            </a:r>
            <a:r>
              <a:rPr lang="en-US" altLang="zh-CN" sz="2000" dirty="0"/>
              <a:t>30%——80%</a:t>
            </a:r>
            <a:r>
              <a:rPr lang="zh-CN" altLang="en-US" sz="2000" dirty="0"/>
              <a:t>之间</a:t>
            </a:r>
            <a:endParaRPr lang="en-US" altLang="zh-CN" sz="2000" dirty="0"/>
          </a:p>
          <a:p>
            <a:r>
              <a:rPr lang="zh-CN" altLang="en-US" sz="2000" dirty="0"/>
              <a:t>对于</a:t>
            </a:r>
            <a:r>
              <a:rPr lang="en-US" altLang="zh-CN" sz="2000" dirty="0"/>
              <a:t>pptx,jpg,mp4</a:t>
            </a:r>
            <a:r>
              <a:rPr lang="zh-CN" altLang="en-US" sz="2000" dirty="0"/>
              <a:t>这种以压缩的文件效果较差、</a:t>
            </a:r>
            <a:endParaRPr lang="en-US" altLang="zh-CN" sz="2000" dirty="0"/>
          </a:p>
          <a:p>
            <a:r>
              <a:rPr lang="zh-CN" altLang="en-US" sz="2000" dirty="0"/>
              <a:t>压缩耗时短且为无损压缩</a:t>
            </a:r>
            <a:endParaRPr lang="en-US" altLang="zh-CN" sz="2000" dirty="0"/>
          </a:p>
          <a:p>
            <a:r>
              <a:rPr lang="zh-CN" altLang="en-US" sz="2000" dirty="0"/>
              <a:t>对比</a:t>
            </a:r>
            <a:r>
              <a:rPr lang="en-US" altLang="zh-CN" sz="2000" dirty="0"/>
              <a:t>7-zip,</a:t>
            </a:r>
            <a:r>
              <a:rPr lang="zh-CN" altLang="en-US" sz="2000" dirty="0"/>
              <a:t>我的霍夫曼压缩速度上占优，但压缩率远大于</a:t>
            </a:r>
            <a:r>
              <a:rPr lang="en-US" altLang="zh-CN" sz="2000" dirty="0"/>
              <a:t>7-zip</a:t>
            </a:r>
            <a:endParaRPr lang="zh-CN" altLang="en-US" sz="2000" dirty="0"/>
          </a:p>
          <a:p>
            <a:endParaRPr lang="zh-CN" altLang="en-US" sz="200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C8A3973-DA72-E8B1-5433-97C6E3496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44" y="3320984"/>
            <a:ext cx="7923756" cy="101663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9C09006-C373-7340-20AF-A6C6276CB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44" y="1018903"/>
            <a:ext cx="6731345" cy="2158639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C322B901-72C5-C970-8B63-B4B8DE41D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722" y="1018903"/>
            <a:ext cx="3338222" cy="2171427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FFB5456F-16FB-560C-8166-7F827B072DF9}"/>
              </a:ext>
            </a:extLst>
          </p:cNvPr>
          <p:cNvSpPr txBox="1"/>
          <p:nvPr/>
        </p:nvSpPr>
        <p:spPr>
          <a:xfrm>
            <a:off x="1143000" y="5310507"/>
            <a:ext cx="1054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本工具在确保无损前提下，采用规范哈夫曼码表优化存储，压缩速度优异；但因算法仅基于单字节频率，难以消除字符串级冗余，对已压缩或小文件效果受限。后续可融合字典匹配或</a:t>
            </a:r>
            <a:r>
              <a:rPr lang="en-US" altLang="zh-CN" sz="1800" dirty="0"/>
              <a:t>LZ</a:t>
            </a:r>
            <a:r>
              <a:rPr lang="zh-CN" altLang="en-US" sz="1800" dirty="0"/>
              <a:t>预处理，进一步提升压缩率。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xit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0" presetClass="exit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0" presetClass="exit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0" presetClass="exit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0" presetClass="exit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9" grpId="0" animBg="1"/>
      <p:bldP spid="29" grpId="1" animBg="1"/>
      <p:bldP spid="30" grpId="0" animBg="1"/>
      <p:bldP spid="30" grpId="1" animBg="1"/>
      <p:bldP spid="32" grpId="0"/>
      <p:bldP spid="32" grpId="1"/>
      <p:bldP spid="34" grpId="0"/>
      <p:bldP spid="34" grpId="1"/>
      <p:bldP spid="42" grpId="0"/>
      <p:bldP spid="4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79AA8-1C66-C00C-BE93-5B94877DD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91F881E-A2CB-C450-DC1F-30FBC000F9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AF38F995-C279-24E1-281B-635D4FB75865}"/>
              </a:ext>
            </a:extLst>
          </p:cNvPr>
          <p:cNvCxnSpPr/>
          <p:nvPr/>
        </p:nvCxnSpPr>
        <p:spPr>
          <a:xfrm rot="5367260">
            <a:off x="5429250" y="23114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>
            <a:extLst>
              <a:ext uri="{FF2B5EF4-FFF2-40B4-BE49-F238E27FC236}">
                <a16:creationId xmlns:a16="http://schemas.microsoft.com/office/drawing/2014/main" id="{BD27AF07-5D73-5B55-3588-29242C9B4958}"/>
              </a:ext>
            </a:extLst>
          </p:cNvPr>
          <p:cNvCxnSpPr/>
          <p:nvPr/>
        </p:nvCxnSpPr>
        <p:spPr>
          <a:xfrm rot="5363036">
            <a:off x="5505450" y="5816634"/>
            <a:ext cx="1181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C489CE9C-3DF6-3CD4-BA0D-6B6D78F96B9D}"/>
              </a:ext>
            </a:extLst>
          </p:cNvPr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E99167-F623-E716-8612-97A655C2B8CE}"/>
              </a:ext>
            </a:extLst>
          </p:cNvPr>
          <p:cNvSpPr txBox="1"/>
          <p:nvPr/>
        </p:nvSpPr>
        <p:spPr>
          <a:xfrm>
            <a:off x="989490" y="1586609"/>
            <a:ext cx="991980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1.</a:t>
            </a:r>
            <a:r>
              <a:rPr lang="zh-CN" altLang="en-US" sz="2400" b="1" dirty="0"/>
              <a:t>对于项目的总结</a:t>
            </a:r>
            <a:endParaRPr lang="en-US" altLang="zh-CN" sz="2400" b="1" dirty="0"/>
          </a:p>
          <a:p>
            <a:r>
              <a:rPr lang="zh-CN" altLang="en-US" sz="1800" dirty="0"/>
              <a:t>          本项目实现了基于规范哈夫曼编码的 </a:t>
            </a:r>
            <a:r>
              <a:rPr lang="en-US" altLang="zh-CN" sz="1800" dirty="0"/>
              <a:t>CLI </a:t>
            </a:r>
            <a:r>
              <a:rPr lang="zh-CN" altLang="en-US" sz="1800" dirty="0"/>
              <a:t>压缩工具，支持单文件</a:t>
            </a:r>
            <a:r>
              <a:rPr lang="en-US" altLang="zh-CN" sz="1800" dirty="0"/>
              <a:t>/</a:t>
            </a:r>
            <a:r>
              <a:rPr lang="zh-CN" altLang="en-US" sz="1800" dirty="0"/>
              <a:t>多文件</a:t>
            </a:r>
            <a:r>
              <a:rPr lang="en-US" altLang="zh-CN" sz="1800" dirty="0"/>
              <a:t>/</a:t>
            </a:r>
            <a:r>
              <a:rPr lang="zh-CN" altLang="en-US" sz="1800" dirty="0"/>
              <a:t>文件夹无损压缩解压，通配符与中文路径完善，速度优异。当前压缩率受限于单字节统计，对重复字符串及已压缩数据效果不足。未来可融合 </a:t>
            </a:r>
            <a:r>
              <a:rPr lang="en-US" altLang="zh-CN" sz="1800" dirty="0"/>
              <a:t>LZ77 </a:t>
            </a:r>
            <a:r>
              <a:rPr lang="zh-CN" altLang="en-US" sz="1800" dirty="0"/>
              <a:t>预处理或固体压缩，进一步提升压缩效果。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C96FB1-5695-3791-3F90-A11477175E97}"/>
              </a:ext>
            </a:extLst>
          </p:cNvPr>
          <p:cNvSpPr txBox="1"/>
          <p:nvPr/>
        </p:nvSpPr>
        <p:spPr>
          <a:xfrm>
            <a:off x="964090" y="3517838"/>
            <a:ext cx="99452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2.</a:t>
            </a:r>
            <a:r>
              <a:rPr lang="zh-CN" altLang="en-US" sz="2400" b="1" dirty="0"/>
              <a:t>自身的感悟</a:t>
            </a:r>
            <a:endParaRPr lang="en-US" altLang="zh-CN" sz="2400" b="1" dirty="0"/>
          </a:p>
          <a:p>
            <a:r>
              <a:rPr lang="zh-CN" altLang="en-US" sz="1800" dirty="0"/>
              <a:t>           发现自己在编程中的知识深度，广度均不够，这次作业锻炼了我的综合能力，也让我认识到了我的不足，在编写和调试过程中，我深切体会到自身对 </a:t>
            </a:r>
            <a:r>
              <a:rPr lang="en-US" altLang="zh-CN" sz="1800" dirty="0"/>
              <a:t>C++ </a:t>
            </a:r>
            <a:r>
              <a:rPr lang="zh-CN" altLang="en-US" sz="1800" dirty="0"/>
              <a:t>标准库、文件系统和编码规范的掌握尚有欠缺，排查中文路径等细节问题耗费了大量精力。这次实践全面锤炼了我的工程设计与排错能力，也让我更清醒地看到理论与实战间的差距，明确了后续深入学习的方向。</a:t>
            </a:r>
          </a:p>
        </p:txBody>
      </p:sp>
    </p:spTree>
    <p:extLst>
      <p:ext uri="{BB962C8B-B14F-4D97-AF65-F5344CB8AC3E}">
        <p14:creationId xmlns:p14="http://schemas.microsoft.com/office/powerpoint/2010/main" val="227248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9668D-1C9F-90B5-FB5E-DE0A1AF4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5D237C4-DCE2-56B3-A577-14BB4ED18F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B9F72472-C156-FC1A-33AB-C45473FC41AD}"/>
              </a:ext>
            </a:extLst>
          </p:cNvPr>
          <p:cNvCxnSpPr/>
          <p:nvPr/>
        </p:nvCxnSpPr>
        <p:spPr>
          <a:xfrm rot="5367260">
            <a:off x="5429250" y="23114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>
            <a:extLst>
              <a:ext uri="{FF2B5EF4-FFF2-40B4-BE49-F238E27FC236}">
                <a16:creationId xmlns:a16="http://schemas.microsoft.com/office/drawing/2014/main" id="{AF3F03E1-890F-65CD-B571-94765AC26AA8}"/>
              </a:ext>
            </a:extLst>
          </p:cNvPr>
          <p:cNvCxnSpPr/>
          <p:nvPr/>
        </p:nvCxnSpPr>
        <p:spPr>
          <a:xfrm rot="5363036">
            <a:off x="5505450" y="5816634"/>
            <a:ext cx="1181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4FF4D553-6557-236A-D516-21A8ED138CF9}"/>
              </a:ext>
            </a:extLst>
          </p:cNvPr>
          <p:cNvSpPr/>
          <p:nvPr/>
        </p:nvSpPr>
        <p:spPr>
          <a:xfrm>
            <a:off x="3518262" y="2161542"/>
            <a:ext cx="519901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7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谢谢观看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83CC89-25DB-70DB-7073-86360583483C}"/>
              </a:ext>
            </a:extLst>
          </p:cNvPr>
          <p:cNvSpPr/>
          <p:nvPr/>
        </p:nvSpPr>
        <p:spPr>
          <a:xfrm>
            <a:off x="1812746" y="3429000"/>
            <a:ext cx="86100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Thanks </a:t>
            </a:r>
            <a:r>
              <a:rPr lang="en-US" altLang="zh-CN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for</a:t>
            </a:r>
            <a:r>
              <a:rPr lang="zh-CN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altLang="zh-CN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your</a:t>
            </a:r>
            <a:r>
              <a:rPr lang="zh-CN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altLang="zh-CN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watching</a:t>
            </a:r>
            <a:endParaRPr lang="zh-CN" alt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236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2798</Words>
  <Application>Microsoft Office PowerPoint</Application>
  <PresentationFormat>宽屏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Menlo</vt:lpstr>
      <vt:lpstr>Noto Sans SC</vt:lpstr>
      <vt:lpstr>quote-cjk-patch</vt:lpstr>
      <vt:lpstr>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1483924065@qq.com</cp:lastModifiedBy>
  <cp:revision>8</cp:revision>
  <dcterms:modified xsi:type="dcterms:W3CDTF">2026-05-31T04:21:20Z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{"Label":"1","ContentProducer":"001191110102MACQD9K64010000","ProduceID":"7645621491561303000","ReservedCode1":"","ContentPropagator":"","PropagateID":"","ReservedCode2":""}</vt:lpwstr>
  </property>
</Properties>
</file>